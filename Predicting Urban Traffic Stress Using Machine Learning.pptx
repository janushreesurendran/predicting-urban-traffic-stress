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Questrial" charset="1" panose="00000000000000000000"/>
      <p:regular r:id="rId25"/>
    </p:embeddedFont>
    <p:embeddedFont>
      <p:font typeface="Sugo Display" charset="1" panose="02000506020000020004"/>
      <p:regular r:id="rId26"/>
    </p:embeddedFont>
    <p:embeddedFont>
      <p:font typeface="Montserrat" charset="1" panose="00000500000000000000"/>
      <p:regular r:id="rId27"/>
    </p:embeddedFont>
    <p:embeddedFont>
      <p:font typeface="Canva Sans" charset="1" panose="020B0503030501040103"/>
      <p:regular r:id="rId28"/>
    </p:embeddedFont>
    <p:embeddedFont>
      <p:font typeface="Canva Sans Bold" charset="1" panose="020B0803030501040103"/>
      <p:regular r:id="rId29"/>
    </p:embeddedFont>
    <p:embeddedFont>
      <p:font typeface="Open Sans Bold" charset="1" panose="020B0806030504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grpSp>
        <p:nvGrpSpPr>
          <p:cNvPr name="Group 5" id="5"/>
          <p:cNvGrpSpPr/>
          <p:nvPr/>
        </p:nvGrpSpPr>
        <p:grpSpPr>
          <a:xfrm rot="0">
            <a:off x="976685" y="1028700"/>
            <a:ext cx="16282615" cy="8229600"/>
            <a:chOff x="0" y="0"/>
            <a:chExt cx="4288425" cy="2167467"/>
          </a:xfrm>
        </p:grpSpPr>
        <p:sp>
          <p:nvSpPr>
            <p:cNvPr name="Freeform 6" id="6"/>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7" id="7"/>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4981025" y="6608137"/>
            <a:ext cx="8836933" cy="615381"/>
          </a:xfrm>
          <a:prstGeom prst="rect">
            <a:avLst/>
          </a:prstGeom>
        </p:spPr>
        <p:txBody>
          <a:bodyPr anchor="t" rtlCol="false" tIns="0" lIns="0" bIns="0" rIns="0">
            <a:spAutoFit/>
          </a:bodyPr>
          <a:lstStyle/>
          <a:p>
            <a:pPr algn="l">
              <a:lnSpc>
                <a:spcPts val="4575"/>
              </a:lnSpc>
            </a:pPr>
            <a:r>
              <a:rPr lang="en-US" sz="4816">
                <a:solidFill>
                  <a:srgbClr val="93BBD5"/>
                </a:solidFill>
                <a:latin typeface="Questrial"/>
                <a:ea typeface="Questrial"/>
                <a:cs typeface="Questrial"/>
                <a:sym typeface="Questrial"/>
              </a:rPr>
              <a:t>Presented by Janushree S</a:t>
            </a:r>
          </a:p>
        </p:txBody>
      </p:sp>
      <p:sp>
        <p:nvSpPr>
          <p:cNvPr name="TextBox 9" id="9"/>
          <p:cNvSpPr txBox="true"/>
          <p:nvPr/>
        </p:nvSpPr>
        <p:spPr>
          <a:xfrm rot="0">
            <a:off x="986210" y="3165436"/>
            <a:ext cx="16576403" cy="3855805"/>
          </a:xfrm>
          <a:prstGeom prst="rect">
            <a:avLst/>
          </a:prstGeom>
        </p:spPr>
        <p:txBody>
          <a:bodyPr anchor="t" rtlCol="false" tIns="0" lIns="0" bIns="0" rIns="0">
            <a:spAutoFit/>
          </a:bodyPr>
          <a:lstStyle/>
          <a:p>
            <a:pPr algn="ctr">
              <a:lnSpc>
                <a:spcPts val="9840"/>
              </a:lnSpc>
            </a:pPr>
            <a:r>
              <a:rPr lang="en-US" sz="10358">
                <a:solidFill>
                  <a:srgbClr val="5599C7"/>
                </a:solidFill>
                <a:latin typeface="Sugo Display"/>
                <a:ea typeface="Sugo Display"/>
                <a:cs typeface="Sugo Display"/>
                <a:sym typeface="Sugo Display"/>
              </a:rPr>
              <a:t>PREDICTING URBAN TRAFFIC STRESS </a:t>
            </a:r>
          </a:p>
          <a:p>
            <a:pPr algn="ctr">
              <a:lnSpc>
                <a:spcPts val="9840"/>
              </a:lnSpc>
            </a:pPr>
            <a:r>
              <a:rPr lang="en-US" sz="10358">
                <a:solidFill>
                  <a:srgbClr val="5599C7"/>
                </a:solidFill>
                <a:latin typeface="Sugo Display"/>
                <a:ea typeface="Sugo Display"/>
                <a:cs typeface="Sugo Display"/>
                <a:sym typeface="Sugo Display"/>
              </a:rPr>
              <a:t>USING MACHINE LEARNING</a:t>
            </a:r>
          </a:p>
          <a:p>
            <a:pPr algn="ctr">
              <a:lnSpc>
                <a:spcPts val="984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grpSp>
        <p:nvGrpSpPr>
          <p:cNvPr name="Group 5" id="5"/>
          <p:cNvGrpSpPr/>
          <p:nvPr/>
        </p:nvGrpSpPr>
        <p:grpSpPr>
          <a:xfrm rot="0">
            <a:off x="591173" y="683768"/>
            <a:ext cx="16911609" cy="9000625"/>
            <a:chOff x="0" y="0"/>
            <a:chExt cx="4454086" cy="2370535"/>
          </a:xfrm>
        </p:grpSpPr>
        <p:sp>
          <p:nvSpPr>
            <p:cNvPr name="Freeform 6" id="6"/>
            <p:cNvSpPr/>
            <p:nvPr/>
          </p:nvSpPr>
          <p:spPr>
            <a:xfrm flipH="false" flipV="false" rot="0">
              <a:off x="0" y="0"/>
              <a:ext cx="4454086" cy="2370535"/>
            </a:xfrm>
            <a:custGeom>
              <a:avLst/>
              <a:gdLst/>
              <a:ahLst/>
              <a:cxnLst/>
              <a:rect r="r" b="b" t="t" l="l"/>
              <a:pathLst>
                <a:path h="2370535" w="4454086">
                  <a:moveTo>
                    <a:pt x="6867" y="0"/>
                  </a:moveTo>
                  <a:lnTo>
                    <a:pt x="4447220" y="0"/>
                  </a:lnTo>
                  <a:cubicBezTo>
                    <a:pt x="4451012" y="0"/>
                    <a:pt x="4454086" y="3074"/>
                    <a:pt x="4454086" y="6867"/>
                  </a:cubicBezTo>
                  <a:lnTo>
                    <a:pt x="4454086" y="2363668"/>
                  </a:lnTo>
                  <a:cubicBezTo>
                    <a:pt x="4454086" y="2365489"/>
                    <a:pt x="4453363" y="2367236"/>
                    <a:pt x="4452075" y="2368524"/>
                  </a:cubicBezTo>
                  <a:cubicBezTo>
                    <a:pt x="4450787" y="2369812"/>
                    <a:pt x="4449041" y="2370535"/>
                    <a:pt x="4447220" y="2370535"/>
                  </a:cubicBezTo>
                  <a:lnTo>
                    <a:pt x="6867" y="2370535"/>
                  </a:lnTo>
                  <a:cubicBezTo>
                    <a:pt x="3074" y="2370535"/>
                    <a:pt x="0" y="2367461"/>
                    <a:pt x="0" y="2363668"/>
                  </a:cubicBezTo>
                  <a:lnTo>
                    <a:pt x="0" y="6867"/>
                  </a:lnTo>
                  <a:cubicBezTo>
                    <a:pt x="0" y="3074"/>
                    <a:pt x="3074" y="0"/>
                    <a:pt x="6867" y="0"/>
                  </a:cubicBezTo>
                  <a:close/>
                </a:path>
              </a:pathLst>
            </a:custGeom>
            <a:solidFill>
              <a:srgbClr val="FFFFFF"/>
            </a:solidFill>
          </p:spPr>
        </p:sp>
        <p:sp>
          <p:nvSpPr>
            <p:cNvPr name="TextBox 7" id="7"/>
            <p:cNvSpPr txBox="true"/>
            <p:nvPr/>
          </p:nvSpPr>
          <p:spPr>
            <a:xfrm>
              <a:off x="0" y="-38100"/>
              <a:ext cx="4454086" cy="240863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4439087" y="1425435"/>
            <a:ext cx="7661673" cy="1359151"/>
          </a:xfrm>
          <a:prstGeom prst="rect">
            <a:avLst/>
          </a:prstGeom>
        </p:spPr>
        <p:txBody>
          <a:bodyPr anchor="t" rtlCol="false" tIns="0" lIns="0" bIns="0" rIns="0">
            <a:spAutoFit/>
          </a:bodyPr>
          <a:lstStyle/>
          <a:p>
            <a:pPr algn="ctr">
              <a:lnSpc>
                <a:spcPts val="9887"/>
              </a:lnSpc>
            </a:pPr>
            <a:r>
              <a:rPr lang="en-US" sz="10407">
                <a:solidFill>
                  <a:srgbClr val="5599C7"/>
                </a:solidFill>
                <a:latin typeface="Sugo Display"/>
                <a:ea typeface="Sugo Display"/>
                <a:cs typeface="Sugo Display"/>
                <a:sym typeface="Sugo Display"/>
              </a:rPr>
              <a:t>INTRODUCTION</a:t>
            </a:r>
          </a:p>
        </p:txBody>
      </p:sp>
      <p:sp>
        <p:nvSpPr>
          <p:cNvPr name="Freeform 9" id="9"/>
          <p:cNvSpPr/>
          <p:nvPr/>
        </p:nvSpPr>
        <p:spPr>
          <a:xfrm flipH="false" flipV="false" rot="0">
            <a:off x="12409144" y="1206360"/>
            <a:ext cx="5642507" cy="7712858"/>
          </a:xfrm>
          <a:custGeom>
            <a:avLst/>
            <a:gdLst/>
            <a:ahLst/>
            <a:cxnLst/>
            <a:rect r="r" b="b" t="t" l="l"/>
            <a:pathLst>
              <a:path h="7712858" w="5642507">
                <a:moveTo>
                  <a:pt x="0" y="0"/>
                </a:moveTo>
                <a:lnTo>
                  <a:pt x="5642507" y="0"/>
                </a:lnTo>
                <a:lnTo>
                  <a:pt x="5642507" y="7712858"/>
                </a:lnTo>
                <a:lnTo>
                  <a:pt x="0" y="7712858"/>
                </a:lnTo>
                <a:lnTo>
                  <a:pt x="0" y="0"/>
                </a:lnTo>
                <a:close/>
              </a:path>
            </a:pathLst>
          </a:custGeom>
          <a:blipFill>
            <a:blip r:embed="rId6"/>
            <a:stretch>
              <a:fillRect l="-61712" t="0" r="-95316" b="-19216"/>
            </a:stretch>
          </a:blipFill>
        </p:spPr>
      </p:sp>
      <p:sp>
        <p:nvSpPr>
          <p:cNvPr name="TextBox 10" id="10"/>
          <p:cNvSpPr txBox="true"/>
          <p:nvPr/>
        </p:nvSpPr>
        <p:spPr>
          <a:xfrm rot="0">
            <a:off x="1515663" y="3425663"/>
            <a:ext cx="10186301" cy="5832637"/>
          </a:xfrm>
          <a:prstGeom prst="rect">
            <a:avLst/>
          </a:prstGeom>
        </p:spPr>
        <p:txBody>
          <a:bodyPr anchor="t" rtlCol="false" tIns="0" lIns="0" bIns="0" rIns="0">
            <a:spAutoFit/>
          </a:bodyPr>
          <a:lstStyle/>
          <a:p>
            <a:pPr algn="l">
              <a:lnSpc>
                <a:spcPts val="4146"/>
              </a:lnSpc>
            </a:pPr>
            <a:r>
              <a:rPr lang="en-US" sz="4364">
                <a:solidFill>
                  <a:srgbClr val="3B88AF"/>
                </a:solidFill>
                <a:latin typeface="Questrial"/>
                <a:ea typeface="Questrial"/>
                <a:cs typeface="Questrial"/>
                <a:sym typeface="Questrial"/>
              </a:rPr>
              <a:t>Urban traffic congestion is one of the major challenges faced by modern cities. Long waiting times, frequent stops, noise from vehicles, and crowded roads can significantly increase the stress levels of drivers. High traffic stress not only affects mental well-being but can also reduce driving performance, increase fatigue, and contribute to road accidents.</a:t>
            </a:r>
          </a:p>
          <a:p>
            <a:pPr algn="l">
              <a:lnSpc>
                <a:spcPts val="4146"/>
              </a:lnSpc>
            </a:pPr>
          </a:p>
          <a:p>
            <a:pPr algn="l">
              <a:lnSpc>
                <a:spcPts val="414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grpSp>
        <p:nvGrpSpPr>
          <p:cNvPr name="Group 5" id="5"/>
          <p:cNvGrpSpPr/>
          <p:nvPr/>
        </p:nvGrpSpPr>
        <p:grpSpPr>
          <a:xfrm rot="0">
            <a:off x="976685" y="904318"/>
            <a:ext cx="16282615" cy="8478363"/>
            <a:chOff x="0" y="0"/>
            <a:chExt cx="4288425" cy="2232985"/>
          </a:xfrm>
        </p:grpSpPr>
        <p:sp>
          <p:nvSpPr>
            <p:cNvPr name="Freeform 6" id="6"/>
            <p:cNvSpPr/>
            <p:nvPr/>
          </p:nvSpPr>
          <p:spPr>
            <a:xfrm flipH="false" flipV="false" rot="0">
              <a:off x="0" y="0"/>
              <a:ext cx="4288425" cy="2232985"/>
            </a:xfrm>
            <a:custGeom>
              <a:avLst/>
              <a:gdLst/>
              <a:ahLst/>
              <a:cxnLst/>
              <a:rect r="r" b="b" t="t" l="l"/>
              <a:pathLst>
                <a:path h="2232985" w="4288425">
                  <a:moveTo>
                    <a:pt x="7132" y="0"/>
                  </a:moveTo>
                  <a:lnTo>
                    <a:pt x="4281293" y="0"/>
                  </a:lnTo>
                  <a:cubicBezTo>
                    <a:pt x="4283185" y="0"/>
                    <a:pt x="4284999" y="751"/>
                    <a:pt x="4286336" y="2089"/>
                  </a:cubicBezTo>
                  <a:cubicBezTo>
                    <a:pt x="4287674" y="3426"/>
                    <a:pt x="4288425" y="5241"/>
                    <a:pt x="4288425" y="7132"/>
                  </a:cubicBezTo>
                  <a:lnTo>
                    <a:pt x="4288425" y="2225853"/>
                  </a:lnTo>
                  <a:cubicBezTo>
                    <a:pt x="4288425" y="2229791"/>
                    <a:pt x="4285232" y="2232985"/>
                    <a:pt x="4281293" y="2232985"/>
                  </a:cubicBezTo>
                  <a:lnTo>
                    <a:pt x="7132" y="2232985"/>
                  </a:lnTo>
                  <a:cubicBezTo>
                    <a:pt x="5241" y="2232985"/>
                    <a:pt x="3426" y="2232233"/>
                    <a:pt x="2089" y="2230896"/>
                  </a:cubicBezTo>
                  <a:cubicBezTo>
                    <a:pt x="751" y="2229558"/>
                    <a:pt x="0" y="2227744"/>
                    <a:pt x="0" y="2225853"/>
                  </a:cubicBezTo>
                  <a:lnTo>
                    <a:pt x="0" y="7132"/>
                  </a:lnTo>
                  <a:cubicBezTo>
                    <a:pt x="0" y="3193"/>
                    <a:pt x="3193" y="0"/>
                    <a:pt x="7132" y="0"/>
                  </a:cubicBezTo>
                  <a:close/>
                </a:path>
              </a:pathLst>
            </a:custGeom>
            <a:solidFill>
              <a:srgbClr val="FFFFFF"/>
            </a:solidFill>
          </p:spPr>
        </p:sp>
        <p:sp>
          <p:nvSpPr>
            <p:cNvPr name="TextBox 7" id="7"/>
            <p:cNvSpPr txBox="true"/>
            <p:nvPr/>
          </p:nvSpPr>
          <p:spPr>
            <a:xfrm>
              <a:off x="0" y="-38100"/>
              <a:ext cx="4288425" cy="227108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4747470" y="1608674"/>
            <a:ext cx="7661673" cy="1359151"/>
          </a:xfrm>
          <a:prstGeom prst="rect">
            <a:avLst/>
          </a:prstGeom>
        </p:spPr>
        <p:txBody>
          <a:bodyPr anchor="t" rtlCol="false" tIns="0" lIns="0" bIns="0" rIns="0">
            <a:spAutoFit/>
          </a:bodyPr>
          <a:lstStyle/>
          <a:p>
            <a:pPr algn="ctr">
              <a:lnSpc>
                <a:spcPts val="9887"/>
              </a:lnSpc>
            </a:pPr>
            <a:r>
              <a:rPr lang="en-US" sz="10407">
                <a:solidFill>
                  <a:srgbClr val="5599C7"/>
                </a:solidFill>
                <a:latin typeface="Sugo Display"/>
                <a:ea typeface="Sugo Display"/>
                <a:cs typeface="Sugo Display"/>
                <a:sym typeface="Sugo Display"/>
              </a:rPr>
              <a:t>OBJECTIVES</a:t>
            </a:r>
          </a:p>
        </p:txBody>
      </p:sp>
      <p:sp>
        <p:nvSpPr>
          <p:cNvPr name="TextBox 9" id="9"/>
          <p:cNvSpPr txBox="true"/>
          <p:nvPr/>
        </p:nvSpPr>
        <p:spPr>
          <a:xfrm rot="0">
            <a:off x="1773627" y="3063074"/>
            <a:ext cx="14357084" cy="6384090"/>
          </a:xfrm>
          <a:prstGeom prst="rect">
            <a:avLst/>
          </a:prstGeom>
        </p:spPr>
        <p:txBody>
          <a:bodyPr anchor="t" rtlCol="false" tIns="0" lIns="0" bIns="0" rIns="0">
            <a:spAutoFit/>
          </a:bodyPr>
          <a:lstStyle/>
          <a:p>
            <a:pPr algn="l" marL="946408" indent="-473204" lvl="1">
              <a:lnSpc>
                <a:spcPts val="4164"/>
              </a:lnSpc>
              <a:buFont typeface="Arial"/>
              <a:buChar char="•"/>
            </a:pPr>
            <a:r>
              <a:rPr lang="en-US" sz="4383">
                <a:solidFill>
                  <a:srgbClr val="3B88AF"/>
                </a:solidFill>
                <a:latin typeface="Questrial"/>
                <a:ea typeface="Questrial"/>
                <a:cs typeface="Questrial"/>
                <a:sym typeface="Questrial"/>
              </a:rPr>
              <a:t>To analyze factors influencing urban traffic congestion.</a:t>
            </a:r>
          </a:p>
          <a:p>
            <a:pPr algn="l" marL="946408" indent="-473204" lvl="1">
              <a:lnSpc>
                <a:spcPts val="4164"/>
              </a:lnSpc>
              <a:buFont typeface="Arial"/>
              <a:buChar char="•"/>
            </a:pPr>
            <a:r>
              <a:rPr lang="en-US" sz="4383">
                <a:solidFill>
                  <a:srgbClr val="3B88AF"/>
                </a:solidFill>
                <a:latin typeface="Questrial"/>
                <a:ea typeface="Questrial"/>
                <a:cs typeface="Questrial"/>
                <a:sym typeface="Questrial"/>
              </a:rPr>
              <a:t>To predict the level of stress experienced by drivers in urban traffic conditions using machine learning techniques.</a:t>
            </a:r>
          </a:p>
          <a:p>
            <a:pPr algn="l" marL="946408" indent="-473204" lvl="1">
              <a:lnSpc>
                <a:spcPts val="4164"/>
              </a:lnSpc>
              <a:buFont typeface="Arial"/>
              <a:buChar char="•"/>
            </a:pPr>
            <a:r>
              <a:rPr lang="en-US" sz="4383">
                <a:solidFill>
                  <a:srgbClr val="3B88AF"/>
                </a:solidFill>
                <a:latin typeface="Questrial"/>
                <a:ea typeface="Questrial"/>
                <a:cs typeface="Questrial"/>
                <a:sym typeface="Questrial"/>
              </a:rPr>
              <a:t>To perform Exploratory Data Analysis (EDA) on traffic data.</a:t>
            </a:r>
          </a:p>
          <a:p>
            <a:pPr algn="l" marL="946408" indent="-473204" lvl="1">
              <a:lnSpc>
                <a:spcPts val="4164"/>
              </a:lnSpc>
              <a:buFont typeface="Arial"/>
              <a:buChar char="•"/>
            </a:pPr>
            <a:r>
              <a:rPr lang="en-US" sz="4383">
                <a:solidFill>
                  <a:srgbClr val="3B88AF"/>
                </a:solidFill>
                <a:latin typeface="Questrial"/>
                <a:ea typeface="Questrial"/>
                <a:cs typeface="Questrial"/>
                <a:sym typeface="Questrial"/>
              </a:rPr>
              <a:t>To build and train machine learning models for traffic stress prediction.</a:t>
            </a:r>
          </a:p>
          <a:p>
            <a:pPr algn="l" marL="946408" indent="-473204" lvl="1">
              <a:lnSpc>
                <a:spcPts val="4164"/>
              </a:lnSpc>
              <a:buFont typeface="Arial"/>
              <a:buChar char="•"/>
            </a:pPr>
            <a:r>
              <a:rPr lang="en-US" sz="4383">
                <a:solidFill>
                  <a:srgbClr val="3B88AF"/>
                </a:solidFill>
                <a:latin typeface="Questrial"/>
                <a:ea typeface="Questrial"/>
                <a:cs typeface="Questrial"/>
                <a:sym typeface="Questrial"/>
              </a:rPr>
              <a:t>To evaluate different models and identify the best performing model.</a:t>
            </a:r>
          </a:p>
          <a:p>
            <a:pPr algn="l">
              <a:lnSpc>
                <a:spcPts val="416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grpSp>
        <p:nvGrpSpPr>
          <p:cNvPr name="Group 5" id="5"/>
          <p:cNvGrpSpPr/>
          <p:nvPr/>
        </p:nvGrpSpPr>
        <p:grpSpPr>
          <a:xfrm rot="0">
            <a:off x="976685" y="1028700"/>
            <a:ext cx="16282615" cy="8229600"/>
            <a:chOff x="0" y="0"/>
            <a:chExt cx="4288425" cy="2167467"/>
          </a:xfrm>
        </p:grpSpPr>
        <p:sp>
          <p:nvSpPr>
            <p:cNvPr name="Freeform 6" id="6"/>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7" id="7"/>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976685" y="1028700"/>
            <a:ext cx="16230600" cy="8229600"/>
          </a:xfrm>
          <a:custGeom>
            <a:avLst/>
            <a:gdLst/>
            <a:ahLst/>
            <a:cxnLst/>
            <a:rect r="r" b="b" t="t" l="l"/>
            <a:pathLst>
              <a:path h="8229600" w="16230600">
                <a:moveTo>
                  <a:pt x="0" y="0"/>
                </a:moveTo>
                <a:lnTo>
                  <a:pt x="16230600" y="0"/>
                </a:lnTo>
                <a:lnTo>
                  <a:pt x="16230600" y="8229600"/>
                </a:lnTo>
                <a:lnTo>
                  <a:pt x="0" y="8229600"/>
                </a:lnTo>
                <a:lnTo>
                  <a:pt x="0" y="0"/>
                </a:lnTo>
                <a:close/>
              </a:path>
            </a:pathLst>
          </a:custGeom>
          <a:blipFill>
            <a:blip r:embed="rId6">
              <a:alphaModFix amt="55000"/>
            </a:blip>
            <a:stretch>
              <a:fillRect l="0" t="-23387" r="0" b="-12449"/>
            </a:stretch>
          </a:blipFill>
        </p:spPr>
      </p:sp>
      <p:sp>
        <p:nvSpPr>
          <p:cNvPr name="TextBox 9" id="9"/>
          <p:cNvSpPr txBox="true"/>
          <p:nvPr/>
        </p:nvSpPr>
        <p:spPr>
          <a:xfrm rot="0">
            <a:off x="2597496" y="1747983"/>
            <a:ext cx="13212841" cy="2867000"/>
          </a:xfrm>
          <a:prstGeom prst="rect">
            <a:avLst/>
          </a:prstGeom>
        </p:spPr>
        <p:txBody>
          <a:bodyPr anchor="t" rtlCol="false" tIns="0" lIns="0" bIns="0" rIns="0">
            <a:spAutoFit/>
          </a:bodyPr>
          <a:lstStyle/>
          <a:p>
            <a:pPr algn="ctr">
              <a:lnSpc>
                <a:spcPts val="10837"/>
              </a:lnSpc>
            </a:pPr>
            <a:r>
              <a:rPr lang="en-US" sz="11407">
                <a:solidFill>
                  <a:srgbClr val="5599C7"/>
                </a:solidFill>
                <a:latin typeface="Sugo Display"/>
                <a:ea typeface="Sugo Display"/>
                <a:cs typeface="Sugo Display"/>
                <a:sym typeface="Sugo Display"/>
              </a:rPr>
              <a:t>DATASET DESCRIPTION</a:t>
            </a:r>
          </a:p>
          <a:p>
            <a:pPr algn="ctr">
              <a:lnSpc>
                <a:spcPts val="10837"/>
              </a:lnSpc>
            </a:pPr>
          </a:p>
        </p:txBody>
      </p:sp>
      <p:grpSp>
        <p:nvGrpSpPr>
          <p:cNvPr name="Group 10" id="10"/>
          <p:cNvGrpSpPr/>
          <p:nvPr/>
        </p:nvGrpSpPr>
        <p:grpSpPr>
          <a:xfrm rot="0">
            <a:off x="2791655" y="3394705"/>
            <a:ext cx="14616284" cy="5205841"/>
            <a:chOff x="0" y="0"/>
            <a:chExt cx="19488379" cy="6941122"/>
          </a:xfrm>
        </p:grpSpPr>
        <p:sp>
          <p:nvSpPr>
            <p:cNvPr name="TextBox 11" id="11"/>
            <p:cNvSpPr txBox="true"/>
            <p:nvPr/>
          </p:nvSpPr>
          <p:spPr>
            <a:xfrm rot="0">
              <a:off x="0" y="-57150"/>
              <a:ext cx="19488379" cy="1409700"/>
            </a:xfrm>
            <a:prstGeom prst="rect">
              <a:avLst/>
            </a:prstGeom>
          </p:spPr>
          <p:txBody>
            <a:bodyPr anchor="t" rtlCol="false" tIns="0" lIns="0" bIns="0" rIns="0">
              <a:spAutoFit/>
            </a:bodyPr>
            <a:lstStyle/>
            <a:p>
              <a:pPr algn="l" marL="674132" indent="-337066" lvl="1">
                <a:lnSpc>
                  <a:spcPts val="4371"/>
                </a:lnSpc>
                <a:buFont typeface="Arial"/>
                <a:buChar char="•"/>
              </a:pPr>
              <a:r>
                <a:rPr lang="en-US" sz="3122">
                  <a:solidFill>
                    <a:srgbClr val="284872"/>
                  </a:solidFill>
                  <a:latin typeface="Montserrat"/>
                  <a:ea typeface="Montserrat"/>
                  <a:cs typeface="Montserrat"/>
                  <a:sym typeface="Montserrat"/>
                </a:rPr>
                <a:t>Dataset Name : smart_city_traffic_stress_dataset.csv</a:t>
              </a:r>
            </a:p>
            <a:p>
              <a:pPr algn="l">
                <a:lnSpc>
                  <a:spcPts val="4371"/>
                </a:lnSpc>
              </a:pPr>
            </a:p>
          </p:txBody>
        </p:sp>
        <p:sp>
          <p:nvSpPr>
            <p:cNvPr name="TextBox 12" id="12"/>
            <p:cNvSpPr txBox="true"/>
            <p:nvPr/>
          </p:nvSpPr>
          <p:spPr>
            <a:xfrm rot="0">
              <a:off x="0" y="4034398"/>
              <a:ext cx="18695324" cy="2906723"/>
            </a:xfrm>
            <a:prstGeom prst="rect">
              <a:avLst/>
            </a:prstGeom>
          </p:spPr>
          <p:txBody>
            <a:bodyPr anchor="t" rtlCol="false" tIns="0" lIns="0" bIns="0" rIns="0">
              <a:spAutoFit/>
            </a:bodyPr>
            <a:lstStyle/>
            <a:p>
              <a:pPr algn="l">
                <a:lnSpc>
                  <a:spcPts val="4372"/>
                </a:lnSpc>
                <a:spcBef>
                  <a:spcPct val="0"/>
                </a:spcBef>
              </a:pPr>
            </a:p>
            <a:p>
              <a:pPr algn="l" marL="674243" indent="-337121" lvl="1">
                <a:lnSpc>
                  <a:spcPts val="4372"/>
                </a:lnSpc>
                <a:buFont typeface="Arial"/>
                <a:buChar char="•"/>
              </a:pPr>
              <a:r>
                <a:rPr lang="en-US" sz="3122">
                  <a:solidFill>
                    <a:srgbClr val="284872"/>
                  </a:solidFill>
                  <a:latin typeface="Montserrat"/>
                  <a:ea typeface="Montserrat"/>
                  <a:cs typeface="Montserrat"/>
                  <a:sym typeface="Montserrat"/>
                </a:rPr>
                <a:t>Target Variable: </a:t>
              </a:r>
            </a:p>
            <a:p>
              <a:pPr algn="l">
                <a:lnSpc>
                  <a:spcPts val="4372"/>
                </a:lnSpc>
                <a:spcBef>
                  <a:spcPct val="0"/>
                </a:spcBef>
              </a:pPr>
              <a:r>
                <a:rPr lang="en-US" sz="3122">
                  <a:solidFill>
                    <a:srgbClr val="284872"/>
                  </a:solidFill>
                  <a:latin typeface="Montserrat"/>
                  <a:ea typeface="Montserrat"/>
                  <a:cs typeface="Montserrat"/>
                  <a:sym typeface="Montserrat"/>
                </a:rPr>
                <a:t>       </a:t>
              </a:r>
              <a:r>
                <a:rPr lang="en-US" sz="3122">
                  <a:solidFill>
                    <a:srgbClr val="284872"/>
                  </a:solidFill>
                  <a:latin typeface="Montserrat"/>
                  <a:ea typeface="Montserrat"/>
                  <a:cs typeface="Montserrat"/>
                  <a:sym typeface="Montserrat"/>
                </a:rPr>
                <a:t>stress_index </a:t>
              </a:r>
            </a:p>
            <a:p>
              <a:pPr algn="l">
                <a:lnSpc>
                  <a:spcPts val="4372"/>
                </a:lnSpc>
                <a:spcBef>
                  <a:spcPct val="0"/>
                </a:spcBef>
              </a:pPr>
              <a:r>
                <a:rPr lang="en-US" sz="3122">
                  <a:solidFill>
                    <a:srgbClr val="284872"/>
                  </a:solidFill>
                  <a:latin typeface="Montserrat"/>
                  <a:ea typeface="Montserrat"/>
                  <a:cs typeface="Montserrat"/>
                  <a:sym typeface="Montserrat"/>
                </a:rPr>
                <a:t>       (continuous score from ~10 to ~91)</a:t>
              </a:r>
            </a:p>
          </p:txBody>
        </p:sp>
        <p:sp>
          <p:nvSpPr>
            <p:cNvPr name="TextBox 13" id="13"/>
            <p:cNvSpPr txBox="true"/>
            <p:nvPr/>
          </p:nvSpPr>
          <p:spPr>
            <a:xfrm rot="0">
              <a:off x="0" y="1620608"/>
              <a:ext cx="18182022" cy="2142289"/>
            </a:xfrm>
            <a:prstGeom prst="rect">
              <a:avLst/>
            </a:prstGeom>
          </p:spPr>
          <p:txBody>
            <a:bodyPr anchor="t" rtlCol="false" tIns="0" lIns="0" bIns="0" rIns="0">
              <a:spAutoFit/>
            </a:bodyPr>
            <a:lstStyle/>
            <a:p>
              <a:pPr algn="l" marL="674480" indent="-337240" lvl="1">
                <a:lnSpc>
                  <a:spcPts val="4373"/>
                </a:lnSpc>
                <a:buFont typeface="Arial"/>
                <a:buChar char="•"/>
              </a:pPr>
              <a:r>
                <a:rPr lang="en-US" sz="3124">
                  <a:solidFill>
                    <a:srgbClr val="284872"/>
                  </a:solidFill>
                  <a:latin typeface="Montserrat"/>
                  <a:ea typeface="Montserrat"/>
                  <a:cs typeface="Montserrat"/>
                  <a:sym typeface="Montserrat"/>
                </a:rPr>
                <a:t>Total Records:</a:t>
              </a:r>
            </a:p>
            <a:p>
              <a:pPr algn="l">
                <a:lnSpc>
                  <a:spcPts val="4373"/>
                </a:lnSpc>
              </a:pPr>
              <a:r>
                <a:rPr lang="en-US" sz="3124">
                  <a:solidFill>
                    <a:srgbClr val="284872"/>
                  </a:solidFill>
                  <a:latin typeface="Montserrat"/>
                  <a:ea typeface="Montserrat"/>
                  <a:cs typeface="Montserrat"/>
                  <a:sym typeface="Montserrat"/>
                </a:rPr>
                <a:t>       40,000+ rows (realistic smart- city </a:t>
              </a:r>
            </a:p>
            <a:p>
              <a:pPr algn="l">
                <a:lnSpc>
                  <a:spcPts val="4373"/>
                </a:lnSpc>
              </a:pPr>
              <a:r>
                <a:rPr lang="en-US" sz="3124">
                  <a:solidFill>
                    <a:srgbClr val="284872"/>
                  </a:solidFill>
                  <a:latin typeface="Montserrat"/>
                  <a:ea typeface="Montserrat"/>
                  <a:cs typeface="Montserrat"/>
                  <a:sym typeface="Montserrat"/>
                </a:rPr>
                <a:t>       simulation)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sp>
        <p:nvSpPr>
          <p:cNvPr name="Freeform 5" id="5"/>
          <p:cNvSpPr/>
          <p:nvPr/>
        </p:nvSpPr>
        <p:spPr>
          <a:xfrm flipH="false" flipV="false" rot="0">
            <a:off x="12100760" y="-559323"/>
            <a:ext cx="4240108" cy="2320495"/>
          </a:xfrm>
          <a:custGeom>
            <a:avLst/>
            <a:gdLst/>
            <a:ahLst/>
            <a:cxnLst/>
            <a:rect r="r" b="b" t="t" l="l"/>
            <a:pathLst>
              <a:path h="2320495" w="4240108">
                <a:moveTo>
                  <a:pt x="0" y="0"/>
                </a:moveTo>
                <a:lnTo>
                  <a:pt x="4240108" y="0"/>
                </a:lnTo>
                <a:lnTo>
                  <a:pt x="4240108" y="2320495"/>
                </a:lnTo>
                <a:lnTo>
                  <a:pt x="0" y="23204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976685" y="1028700"/>
            <a:ext cx="16282615" cy="8229600"/>
            <a:chOff x="0" y="0"/>
            <a:chExt cx="4288425" cy="2167467"/>
          </a:xfrm>
        </p:grpSpPr>
        <p:sp>
          <p:nvSpPr>
            <p:cNvPr name="Freeform 7" id="7"/>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652166" y="1028700"/>
            <a:ext cx="17166279" cy="8229600"/>
          </a:xfrm>
          <a:custGeom>
            <a:avLst/>
            <a:gdLst/>
            <a:ahLst/>
            <a:cxnLst/>
            <a:rect r="r" b="b" t="t" l="l"/>
            <a:pathLst>
              <a:path h="8229600" w="17166279">
                <a:moveTo>
                  <a:pt x="0" y="0"/>
                </a:moveTo>
                <a:lnTo>
                  <a:pt x="17166279" y="0"/>
                </a:lnTo>
                <a:lnTo>
                  <a:pt x="17166279" y="8229600"/>
                </a:lnTo>
                <a:lnTo>
                  <a:pt x="0" y="8229600"/>
                </a:lnTo>
                <a:lnTo>
                  <a:pt x="0" y="0"/>
                </a:lnTo>
                <a:close/>
              </a:path>
            </a:pathLst>
          </a:custGeom>
          <a:blipFill>
            <a:blip r:embed="rId8">
              <a:alphaModFix amt="55000"/>
            </a:blip>
            <a:stretch>
              <a:fillRect l="0" t="-27617" r="0" b="-16049"/>
            </a:stretch>
          </a:blipFill>
        </p:spPr>
      </p:sp>
      <p:graphicFrame>
        <p:nvGraphicFramePr>
          <p:cNvPr name="Table 10" id="10"/>
          <p:cNvGraphicFramePr>
            <a:graphicFrameLocks noGrp="true"/>
          </p:cNvGraphicFramePr>
          <p:nvPr/>
        </p:nvGraphicFramePr>
        <p:xfrm>
          <a:off x="794197" y="1180921"/>
          <a:ext cx="16699606" cy="7925157"/>
        </p:xfrm>
        <a:graphic>
          <a:graphicData uri="http://schemas.openxmlformats.org/drawingml/2006/table">
            <a:tbl>
              <a:tblPr/>
              <a:tblGrid>
                <a:gridCol w="5582706"/>
                <a:gridCol w="11116900"/>
              </a:tblGrid>
              <a:tr h="957101">
                <a:tc>
                  <a:txBody>
                    <a:bodyPr anchor="t" rtlCol="false"/>
                    <a:lstStyle/>
                    <a:p>
                      <a:pPr algn="ctr">
                        <a:lnSpc>
                          <a:spcPts val="3780"/>
                        </a:lnSpc>
                        <a:defRPr/>
                      </a:pPr>
                      <a:r>
                        <a:rPr lang="en-US" sz="2700">
                          <a:solidFill>
                            <a:srgbClr val="284872"/>
                          </a:solidFill>
                          <a:latin typeface="Canva Sans"/>
                          <a:ea typeface="Canva Sans"/>
                          <a:cs typeface="Canva Sans"/>
                          <a:sym typeface="Canva Sans"/>
                        </a:rPr>
                        <a:t>Feature 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780"/>
                        </a:lnSpc>
                        <a:defRPr/>
                      </a:pPr>
                      <a:r>
                        <a:rPr lang="en-US" sz="2700">
                          <a:solidFill>
                            <a:srgbClr val="284872"/>
                          </a:solidFill>
                          <a:latin typeface="Canva Sans"/>
                          <a:ea typeface="Canva Sans"/>
                          <a:cs typeface="Canva Sans"/>
                          <a:sym typeface="Canva Sans"/>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962">
                <a:tc>
                  <a:txBody>
                    <a:bodyPr anchor="t" rtlCol="false"/>
                    <a:lstStyle/>
                    <a:p>
                      <a:pPr algn="l">
                        <a:lnSpc>
                          <a:spcPts val="3220"/>
                        </a:lnSpc>
                        <a:defRPr/>
                      </a:pPr>
                      <a:r>
                        <a:rPr lang="en-US" sz="2300">
                          <a:solidFill>
                            <a:srgbClr val="284872"/>
                          </a:solidFill>
                          <a:latin typeface="Canva Sans"/>
                          <a:ea typeface="Canva Sans"/>
                          <a:cs typeface="Canva Sans"/>
                          <a:sym typeface="Canva Sans"/>
                        </a:rPr>
                        <a:t>Traffic Density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284872"/>
                          </a:solidFill>
                          <a:latin typeface="Canva Sans"/>
                          <a:ea typeface="Canva Sans"/>
                          <a:cs typeface="Canva Sans"/>
                          <a:sym typeface="Canva Sans"/>
                        </a:rPr>
                        <a:t>Vehicles per km (higher = more congestion)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962">
                <a:tc>
                  <a:txBody>
                    <a:bodyPr anchor="t" rtlCol="false"/>
                    <a:lstStyle/>
                    <a:p>
                      <a:pPr algn="l">
                        <a:lnSpc>
                          <a:spcPts val="3220"/>
                        </a:lnSpc>
                        <a:defRPr/>
                      </a:pPr>
                      <a:r>
                        <a:rPr lang="en-US" sz="2300">
                          <a:solidFill>
                            <a:srgbClr val="284872"/>
                          </a:solidFill>
                          <a:latin typeface="Canva Sans"/>
                          <a:ea typeface="Canva Sans"/>
                          <a:cs typeface="Canva Sans"/>
                          <a:sym typeface="Canva Sans"/>
                        </a:rPr>
                        <a:t>Horn Events per Minute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284872"/>
                          </a:solidFill>
                          <a:latin typeface="Canva Sans"/>
                          <a:ea typeface="Canva Sans"/>
                          <a:cs typeface="Canva Sans"/>
                          <a:sym typeface="Canva Sans"/>
                        </a:rPr>
                        <a:t>Honks per minute indicating traffic disturbance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962">
                <a:tc>
                  <a:txBody>
                    <a:bodyPr anchor="t" rtlCol="false"/>
                    <a:lstStyle/>
                    <a:p>
                      <a:pPr algn="l">
                        <a:lnSpc>
                          <a:spcPts val="3220"/>
                        </a:lnSpc>
                        <a:defRPr/>
                      </a:pPr>
                      <a:r>
                        <a:rPr lang="en-US" sz="2300">
                          <a:solidFill>
                            <a:srgbClr val="284872"/>
                          </a:solidFill>
                          <a:latin typeface="Canva Sans"/>
                          <a:ea typeface="Canva Sans"/>
                          <a:cs typeface="Canva Sans"/>
                          <a:sym typeface="Canva Sans"/>
                        </a:rPr>
                        <a:t>Average Speed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284872"/>
                          </a:solidFill>
                          <a:latin typeface="Canva Sans"/>
                          <a:ea typeface="Canva Sans"/>
                          <a:cs typeface="Canva Sans"/>
                          <a:sym typeface="Canva Sans"/>
                        </a:rPr>
                        <a:t>Average vehicle speed in km/h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962">
                <a:tc>
                  <a:txBody>
                    <a:bodyPr anchor="t" rtlCol="false"/>
                    <a:lstStyle/>
                    <a:p>
                      <a:pPr algn="l">
                        <a:lnSpc>
                          <a:spcPts val="3220"/>
                        </a:lnSpc>
                        <a:defRPr/>
                      </a:pPr>
                      <a:r>
                        <a:rPr lang="en-US" sz="2300">
                          <a:solidFill>
                            <a:srgbClr val="284872"/>
                          </a:solidFill>
                          <a:latin typeface="Canva Sans"/>
                          <a:ea typeface="Canva Sans"/>
                          <a:cs typeface="Canva Sans"/>
                          <a:sym typeface="Canva Sans"/>
                        </a:rPr>
                        <a:t>Signal Wait Time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284872"/>
                          </a:solidFill>
                          <a:latin typeface="Canva Sans"/>
                          <a:ea typeface="Canva Sans"/>
                          <a:cs typeface="Canva Sans"/>
                          <a:sym typeface="Canva Sans"/>
                        </a:rPr>
                        <a:t>Seconds spent waiting at signals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962">
                <a:tc>
                  <a:txBody>
                    <a:bodyPr anchor="t" rtlCol="false"/>
                    <a:lstStyle/>
                    <a:p>
                      <a:pPr algn="l">
                        <a:lnSpc>
                          <a:spcPts val="3220"/>
                        </a:lnSpc>
                        <a:defRPr/>
                      </a:pPr>
                      <a:r>
                        <a:rPr lang="en-US" sz="2300">
                          <a:solidFill>
                            <a:srgbClr val="284872"/>
                          </a:solidFill>
                          <a:latin typeface="Canva Sans"/>
                          <a:ea typeface="Canva Sans"/>
                          <a:cs typeface="Canva Sans"/>
                          <a:sym typeface="Canva Sans"/>
                        </a:rPr>
                        <a:t>Weather Condition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284872"/>
                          </a:solidFill>
                          <a:latin typeface="Canva Sans"/>
                          <a:ea typeface="Canva Sans"/>
                          <a:cs typeface="Canva Sans"/>
                          <a:sym typeface="Canva Sans"/>
                        </a:rPr>
                        <a:t>Weather situation affecting driving conditions. (Clear / Rainy / Foggy / Hot)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1321">
                <a:tc>
                  <a:txBody>
                    <a:bodyPr anchor="t" rtlCol="false"/>
                    <a:lstStyle/>
                    <a:p>
                      <a:pPr algn="l">
                        <a:lnSpc>
                          <a:spcPts val="3220"/>
                        </a:lnSpc>
                        <a:defRPr/>
                      </a:pPr>
                      <a:r>
                        <a:rPr lang="en-US" sz="2300">
                          <a:solidFill>
                            <a:srgbClr val="284872"/>
                          </a:solidFill>
                          <a:latin typeface="Canva Sans"/>
                          <a:ea typeface="Canva Sans"/>
                          <a:cs typeface="Canva Sans"/>
                          <a:sym typeface="Canva Sans"/>
                        </a:rPr>
                        <a:t>Road Quality 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284872"/>
                          </a:solidFill>
                          <a:latin typeface="Canva Sans"/>
                          <a:ea typeface="Canva Sans"/>
                          <a:cs typeface="Canva Sans"/>
                          <a:sym typeface="Canva Sans"/>
                        </a:rPr>
                        <a:t>Condition of the road surface. [ 1-10 scale (10 = perfect roads)].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962">
                <a:tc>
                  <a:txBody>
                    <a:bodyPr anchor="t" rtlCol="false"/>
                    <a:lstStyle/>
                    <a:p>
                      <a:pPr algn="l">
                        <a:lnSpc>
                          <a:spcPts val="3220"/>
                        </a:lnSpc>
                        <a:defRPr/>
                      </a:pPr>
                      <a:r>
                        <a:rPr lang="en-US" sz="2300">
                          <a:solidFill>
                            <a:srgbClr val="284872"/>
                          </a:solidFill>
                          <a:latin typeface="Canva Sans"/>
                          <a:ea typeface="Canva Sans"/>
                          <a:cs typeface="Canva Sans"/>
                          <a:sym typeface="Canva Sans"/>
                        </a:rPr>
                        <a:t>Driver Experience Level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284872"/>
                          </a:solidFill>
                          <a:latin typeface="Canva Sans"/>
                          <a:ea typeface="Canva Sans"/>
                          <a:cs typeface="Canva Sans"/>
                          <a:sym typeface="Canva Sans"/>
                        </a:rPr>
                        <a:t>Beginner / Intermediate / Expert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70962">
                <a:tc>
                  <a:txBody>
                    <a:bodyPr anchor="t" rtlCol="false"/>
                    <a:lstStyle/>
                    <a:p>
                      <a:pPr algn="l">
                        <a:lnSpc>
                          <a:spcPts val="3220"/>
                        </a:lnSpc>
                        <a:defRPr/>
                      </a:pPr>
                      <a:r>
                        <a:rPr lang="en-US" b="true" sz="2300">
                          <a:solidFill>
                            <a:srgbClr val="E1364A"/>
                          </a:solidFill>
                          <a:latin typeface="Canva Sans Bold"/>
                          <a:ea typeface="Canva Sans Bold"/>
                          <a:cs typeface="Canva Sans Bold"/>
                          <a:sym typeface="Canva Sans Bold"/>
                        </a:rPr>
                        <a:t>Stress Index (Target Variable)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220"/>
                        </a:lnSpc>
                        <a:defRPr/>
                      </a:pPr>
                      <a:r>
                        <a:rPr lang="en-US" b="true" sz="2300">
                          <a:solidFill>
                            <a:srgbClr val="E1364A"/>
                          </a:solidFill>
                          <a:latin typeface="Canva Sans Bold"/>
                          <a:ea typeface="Canva Sans Bold"/>
                          <a:cs typeface="Canva Sans Bold"/>
                          <a:sym typeface="Canva Sans Bold"/>
                        </a:rPr>
                        <a:t>Level of stress experienced by the driver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grpSp>
        <p:nvGrpSpPr>
          <p:cNvPr name="Group 5" id="5"/>
          <p:cNvGrpSpPr/>
          <p:nvPr/>
        </p:nvGrpSpPr>
        <p:grpSpPr>
          <a:xfrm rot="0">
            <a:off x="976685" y="1028700"/>
            <a:ext cx="16282615" cy="8229600"/>
            <a:chOff x="0" y="0"/>
            <a:chExt cx="4288425" cy="2167467"/>
          </a:xfrm>
        </p:grpSpPr>
        <p:sp>
          <p:nvSpPr>
            <p:cNvPr name="Freeform 6" id="6"/>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7" id="7"/>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461909" y="4073900"/>
            <a:ext cx="15364183" cy="4668677"/>
          </a:xfrm>
          <a:prstGeom prst="rect">
            <a:avLst/>
          </a:prstGeom>
        </p:spPr>
        <p:txBody>
          <a:bodyPr anchor="t" rtlCol="false" tIns="0" lIns="0" bIns="0" rIns="0">
            <a:spAutoFit/>
          </a:bodyPr>
          <a:lstStyle/>
          <a:p>
            <a:pPr algn="l" marL="923678" indent="-461839" lvl="1">
              <a:lnSpc>
                <a:spcPts val="4064"/>
              </a:lnSpc>
              <a:buFont typeface="Arial"/>
              <a:buChar char="•"/>
            </a:pPr>
            <a:r>
              <a:rPr lang="en-US" sz="4278">
                <a:solidFill>
                  <a:srgbClr val="3B88AF"/>
                </a:solidFill>
                <a:latin typeface="Questrial"/>
                <a:ea typeface="Questrial"/>
                <a:cs typeface="Questrial"/>
                <a:sym typeface="Questrial"/>
              </a:rPr>
              <a:t>Checked</a:t>
            </a:r>
            <a:r>
              <a:rPr lang="en-US" sz="4278">
                <a:solidFill>
                  <a:srgbClr val="3B88AF"/>
                </a:solidFill>
                <a:latin typeface="Questrial"/>
                <a:ea typeface="Questrial"/>
                <a:cs typeface="Questrial"/>
                <a:sym typeface="Questrial"/>
              </a:rPr>
              <a:t> the dataset for missing values.</a:t>
            </a:r>
          </a:p>
          <a:p>
            <a:pPr algn="l" marL="923678" indent="-461839" lvl="1">
              <a:lnSpc>
                <a:spcPts val="4064"/>
              </a:lnSpc>
              <a:buFont typeface="Arial"/>
              <a:buChar char="•"/>
            </a:pPr>
            <a:r>
              <a:rPr lang="en-US" sz="4278">
                <a:solidFill>
                  <a:srgbClr val="3B88AF"/>
                </a:solidFill>
                <a:latin typeface="Questrial"/>
                <a:ea typeface="Questrial"/>
                <a:cs typeface="Questrial"/>
                <a:sym typeface="Questrial"/>
              </a:rPr>
              <a:t>Converted categorical variables into numerical format using Label Encoding.</a:t>
            </a:r>
          </a:p>
          <a:p>
            <a:pPr algn="l" marL="923678" indent="-461839" lvl="1">
              <a:lnSpc>
                <a:spcPts val="4064"/>
              </a:lnSpc>
              <a:buFont typeface="Arial"/>
              <a:buChar char="•"/>
            </a:pPr>
            <a:r>
              <a:rPr lang="en-US" sz="4278">
                <a:solidFill>
                  <a:srgbClr val="3B88AF"/>
                </a:solidFill>
                <a:latin typeface="Questrial"/>
                <a:ea typeface="Questrial"/>
                <a:cs typeface="Questrial"/>
                <a:sym typeface="Questrial"/>
              </a:rPr>
              <a:t>Applied feature scaling using StandardScaler to improve model performance.</a:t>
            </a:r>
          </a:p>
          <a:p>
            <a:pPr algn="l" marL="923678" indent="-461839" lvl="1">
              <a:lnSpc>
                <a:spcPts val="4064"/>
              </a:lnSpc>
              <a:buFont typeface="Arial"/>
              <a:buChar char="•"/>
            </a:pPr>
            <a:r>
              <a:rPr lang="en-US" sz="4278">
                <a:solidFill>
                  <a:srgbClr val="3B88AF"/>
                </a:solidFill>
                <a:latin typeface="Questrial"/>
                <a:ea typeface="Questrial"/>
                <a:cs typeface="Questrial"/>
                <a:sym typeface="Questrial"/>
              </a:rPr>
              <a:t>Split the dataset into training and testing sets for building and evaluating machine learning models.</a:t>
            </a:r>
          </a:p>
          <a:p>
            <a:pPr algn="l" marL="923678" indent="-461839" lvl="1">
              <a:lnSpc>
                <a:spcPts val="4064"/>
              </a:lnSpc>
              <a:buFont typeface="Arial"/>
              <a:buChar char="•"/>
            </a:pPr>
            <a:r>
              <a:rPr lang="en-US" sz="4278">
                <a:solidFill>
                  <a:srgbClr val="3B88AF"/>
                </a:solidFill>
                <a:latin typeface="Questrial"/>
                <a:ea typeface="Questrial"/>
                <a:cs typeface="Questrial"/>
                <a:sym typeface="Questrial"/>
              </a:rPr>
              <a:t>Removed outliers using IQR method</a:t>
            </a:r>
          </a:p>
          <a:p>
            <a:pPr algn="l">
              <a:lnSpc>
                <a:spcPts val="4064"/>
              </a:lnSpc>
            </a:pPr>
          </a:p>
        </p:txBody>
      </p:sp>
      <p:sp>
        <p:nvSpPr>
          <p:cNvPr name="TextBox 9" id="9"/>
          <p:cNvSpPr txBox="true"/>
          <p:nvPr/>
        </p:nvSpPr>
        <p:spPr>
          <a:xfrm rot="0">
            <a:off x="4278643" y="1970722"/>
            <a:ext cx="9362918" cy="1367285"/>
          </a:xfrm>
          <a:prstGeom prst="rect">
            <a:avLst/>
          </a:prstGeom>
        </p:spPr>
        <p:txBody>
          <a:bodyPr anchor="t" rtlCol="false" tIns="0" lIns="0" bIns="0" rIns="0">
            <a:spAutoFit/>
          </a:bodyPr>
          <a:lstStyle/>
          <a:p>
            <a:pPr algn="l">
              <a:lnSpc>
                <a:spcPts val="9845"/>
              </a:lnSpc>
            </a:pPr>
            <a:r>
              <a:rPr lang="en-US" sz="10364">
                <a:solidFill>
                  <a:srgbClr val="5599C7"/>
                </a:solidFill>
                <a:latin typeface="Sugo Display"/>
                <a:ea typeface="Sugo Display"/>
                <a:cs typeface="Sugo Display"/>
                <a:sym typeface="Sugo Display"/>
              </a:rPr>
              <a:t>DATA PREPROCESSING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grpSp>
        <p:nvGrpSpPr>
          <p:cNvPr name="Group 6" id="6"/>
          <p:cNvGrpSpPr/>
          <p:nvPr/>
        </p:nvGrpSpPr>
        <p:grpSpPr>
          <a:xfrm rot="0">
            <a:off x="976685" y="1028700"/>
            <a:ext cx="16282615" cy="8229600"/>
            <a:chOff x="0" y="0"/>
            <a:chExt cx="4288425" cy="2167467"/>
          </a:xfrm>
        </p:grpSpPr>
        <p:sp>
          <p:nvSpPr>
            <p:cNvPr name="Freeform 7" id="7"/>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01760" y="1792449"/>
            <a:ext cx="15368542" cy="1368550"/>
          </a:xfrm>
          <a:prstGeom prst="rect">
            <a:avLst/>
          </a:prstGeom>
        </p:spPr>
        <p:txBody>
          <a:bodyPr anchor="t" rtlCol="false" tIns="0" lIns="0" bIns="0" rIns="0">
            <a:spAutoFit/>
          </a:bodyPr>
          <a:lstStyle/>
          <a:p>
            <a:pPr algn="l">
              <a:lnSpc>
                <a:spcPts val="9883"/>
              </a:lnSpc>
            </a:pPr>
            <a:r>
              <a:rPr lang="en-US" sz="10403">
                <a:solidFill>
                  <a:srgbClr val="5599C7"/>
                </a:solidFill>
                <a:latin typeface="Sugo Display"/>
                <a:ea typeface="Sugo Display"/>
                <a:cs typeface="Sugo Display"/>
                <a:sym typeface="Sugo Display"/>
              </a:rPr>
              <a:t>EXPL</a:t>
            </a:r>
            <a:r>
              <a:rPr lang="en-US" sz="10403">
                <a:solidFill>
                  <a:srgbClr val="5599C7"/>
                </a:solidFill>
                <a:latin typeface="Sugo Display"/>
                <a:ea typeface="Sugo Display"/>
                <a:cs typeface="Sugo Display"/>
                <a:sym typeface="Sugo Display"/>
              </a:rPr>
              <a:t>ORATORY DATA ANALYSIS (EDA)</a:t>
            </a:r>
          </a:p>
        </p:txBody>
      </p:sp>
      <p:sp>
        <p:nvSpPr>
          <p:cNvPr name="TextBox 10" id="10"/>
          <p:cNvSpPr txBox="true"/>
          <p:nvPr/>
        </p:nvSpPr>
        <p:spPr>
          <a:xfrm rot="0">
            <a:off x="2504184" y="3514196"/>
            <a:ext cx="12740655" cy="5086350"/>
          </a:xfrm>
          <a:prstGeom prst="rect">
            <a:avLst/>
          </a:prstGeom>
        </p:spPr>
        <p:txBody>
          <a:bodyPr anchor="t" rtlCol="false" tIns="0" lIns="0" bIns="0" rIns="0">
            <a:spAutoFit/>
          </a:bodyPr>
          <a:lstStyle/>
          <a:p>
            <a:pPr algn="l">
              <a:lnSpc>
                <a:spcPts val="3990"/>
              </a:lnSpc>
            </a:pPr>
          </a:p>
          <a:p>
            <a:pPr algn="l" marL="906782" indent="-453391" lvl="1">
              <a:lnSpc>
                <a:spcPts val="3990"/>
              </a:lnSpc>
              <a:buFont typeface="Arial"/>
              <a:buChar char="•"/>
            </a:pPr>
            <a:r>
              <a:rPr lang="en-US" sz="4200">
                <a:solidFill>
                  <a:srgbClr val="5599C7"/>
                </a:solidFill>
                <a:latin typeface="Questrial"/>
                <a:ea typeface="Questrial"/>
                <a:cs typeface="Questrial"/>
                <a:sym typeface="Questrial"/>
              </a:rPr>
              <a:t>Higher traffic density increases driver stress</a:t>
            </a:r>
          </a:p>
          <a:p>
            <a:pPr algn="l" marL="906782" indent="-453391" lvl="1">
              <a:lnSpc>
                <a:spcPts val="3990"/>
              </a:lnSpc>
              <a:buFont typeface="Arial"/>
              <a:buChar char="•"/>
            </a:pPr>
            <a:r>
              <a:rPr lang="en-US" sz="4200">
                <a:solidFill>
                  <a:srgbClr val="5599C7"/>
                </a:solidFill>
                <a:latin typeface="Questrial"/>
                <a:ea typeface="Questrial"/>
                <a:cs typeface="Questrial"/>
                <a:sym typeface="Questrial"/>
              </a:rPr>
              <a:t>Increase in horn events indicates traffic frustration</a:t>
            </a:r>
            <a:r>
              <a:rPr lang="en-US" sz="4200">
                <a:solidFill>
                  <a:srgbClr val="5599C7"/>
                </a:solidFill>
                <a:latin typeface="Questrial"/>
                <a:ea typeface="Questrial"/>
                <a:cs typeface="Questrial"/>
                <a:sym typeface="Questrial"/>
              </a:rPr>
              <a:t> levels</a:t>
            </a:r>
          </a:p>
          <a:p>
            <a:pPr algn="l" marL="906782" indent="-453391" lvl="1">
              <a:lnSpc>
                <a:spcPts val="3990"/>
              </a:lnSpc>
              <a:buFont typeface="Arial"/>
              <a:buChar char="•"/>
            </a:pPr>
            <a:r>
              <a:rPr lang="en-US" sz="4200">
                <a:solidFill>
                  <a:srgbClr val="5599C7"/>
                </a:solidFill>
                <a:latin typeface="Questrial"/>
                <a:ea typeface="Questrial"/>
                <a:cs typeface="Questrial"/>
                <a:sym typeface="Questrial"/>
              </a:rPr>
              <a:t>Hig</a:t>
            </a:r>
            <a:r>
              <a:rPr lang="en-US" sz="4200">
                <a:solidFill>
                  <a:srgbClr val="5599C7"/>
                </a:solidFill>
                <a:latin typeface="Questrial"/>
                <a:ea typeface="Questrial"/>
                <a:cs typeface="Questrial"/>
                <a:sym typeface="Questrial"/>
              </a:rPr>
              <a:t>her average speed reduces stress</a:t>
            </a:r>
          </a:p>
          <a:p>
            <a:pPr algn="l" marL="906782" indent="-453391" lvl="1">
              <a:lnSpc>
                <a:spcPts val="3990"/>
              </a:lnSpc>
              <a:buFont typeface="Arial"/>
              <a:buChar char="•"/>
            </a:pPr>
            <a:r>
              <a:rPr lang="en-US" sz="4200">
                <a:solidFill>
                  <a:srgbClr val="5599C7"/>
                </a:solidFill>
                <a:latin typeface="Questrial"/>
                <a:ea typeface="Questrial"/>
                <a:cs typeface="Questrial"/>
                <a:sym typeface="Questrial"/>
              </a:rPr>
              <a:t>Longer waiting time at signals increases driver frustration</a:t>
            </a:r>
          </a:p>
          <a:p>
            <a:pPr algn="l" marL="906782" indent="-453391" lvl="1">
              <a:lnSpc>
                <a:spcPts val="3990"/>
              </a:lnSpc>
              <a:buFont typeface="Arial"/>
              <a:buChar char="•"/>
            </a:pPr>
            <a:r>
              <a:rPr lang="en-US" sz="4200">
                <a:solidFill>
                  <a:srgbClr val="5599C7"/>
                </a:solidFill>
                <a:latin typeface="Questrial"/>
                <a:ea typeface="Questrial"/>
                <a:cs typeface="Questrial"/>
                <a:sym typeface="Questrial"/>
              </a:rPr>
              <a:t>Better road quality reduces traffic stress</a:t>
            </a:r>
          </a:p>
          <a:p>
            <a:pPr algn="l" marL="906782" indent="-453391" lvl="1">
              <a:lnSpc>
                <a:spcPts val="3990"/>
              </a:lnSpc>
              <a:buFont typeface="Arial"/>
              <a:buChar char="•"/>
            </a:pPr>
            <a:r>
              <a:rPr lang="en-US" sz="4200">
                <a:solidFill>
                  <a:srgbClr val="5599C7"/>
                </a:solidFill>
                <a:latin typeface="Questrial"/>
                <a:ea typeface="Questrial"/>
                <a:cs typeface="Questrial"/>
                <a:sym typeface="Questrial"/>
              </a:rPr>
              <a:t>Experienced drivers handle traffic better</a:t>
            </a:r>
          </a:p>
          <a:p>
            <a:pPr algn="l">
              <a:lnSpc>
                <a:spcPts val="399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grpSp>
        <p:nvGrpSpPr>
          <p:cNvPr name="Group 6" id="6"/>
          <p:cNvGrpSpPr/>
          <p:nvPr/>
        </p:nvGrpSpPr>
        <p:grpSpPr>
          <a:xfrm rot="0">
            <a:off x="976685" y="1028700"/>
            <a:ext cx="16282615" cy="8229600"/>
            <a:chOff x="0" y="0"/>
            <a:chExt cx="4288425" cy="2167467"/>
          </a:xfrm>
        </p:grpSpPr>
        <p:sp>
          <p:nvSpPr>
            <p:cNvPr name="Freeform 7" id="7"/>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326071" y="1676243"/>
            <a:ext cx="13238332" cy="1367285"/>
          </a:xfrm>
          <a:prstGeom prst="rect">
            <a:avLst/>
          </a:prstGeom>
        </p:spPr>
        <p:txBody>
          <a:bodyPr anchor="t" rtlCol="false" tIns="0" lIns="0" bIns="0" rIns="0">
            <a:spAutoFit/>
          </a:bodyPr>
          <a:lstStyle/>
          <a:p>
            <a:pPr algn="l">
              <a:lnSpc>
                <a:spcPts val="9845"/>
              </a:lnSpc>
            </a:pPr>
            <a:r>
              <a:rPr lang="en-US" sz="10364">
                <a:solidFill>
                  <a:srgbClr val="5599C7"/>
                </a:solidFill>
                <a:latin typeface="Sugo Display"/>
                <a:ea typeface="Sugo Display"/>
                <a:cs typeface="Sugo Display"/>
                <a:sym typeface="Sugo Display"/>
              </a:rPr>
              <a:t>TARGET VARIABLE DISTRIBUTION</a:t>
            </a:r>
          </a:p>
        </p:txBody>
      </p:sp>
      <p:sp>
        <p:nvSpPr>
          <p:cNvPr name="Freeform 10" id="10"/>
          <p:cNvSpPr/>
          <p:nvPr/>
        </p:nvSpPr>
        <p:spPr>
          <a:xfrm flipH="false" flipV="false" rot="0">
            <a:off x="1146527" y="3043528"/>
            <a:ext cx="8990473" cy="6002163"/>
          </a:xfrm>
          <a:custGeom>
            <a:avLst/>
            <a:gdLst/>
            <a:ahLst/>
            <a:cxnLst/>
            <a:rect r="r" b="b" t="t" l="l"/>
            <a:pathLst>
              <a:path h="6002163" w="8990473">
                <a:moveTo>
                  <a:pt x="0" y="0"/>
                </a:moveTo>
                <a:lnTo>
                  <a:pt x="8990473" y="0"/>
                </a:lnTo>
                <a:lnTo>
                  <a:pt x="8990473" y="6002163"/>
                </a:lnTo>
                <a:lnTo>
                  <a:pt x="0" y="6002163"/>
                </a:lnTo>
                <a:lnTo>
                  <a:pt x="0" y="0"/>
                </a:lnTo>
                <a:close/>
              </a:path>
            </a:pathLst>
          </a:custGeom>
          <a:blipFill>
            <a:blip r:embed="rId7"/>
            <a:stretch>
              <a:fillRect l="0" t="0" r="0" b="0"/>
            </a:stretch>
          </a:blipFill>
        </p:spPr>
      </p:sp>
      <p:sp>
        <p:nvSpPr>
          <p:cNvPr name="TextBox 11" id="11"/>
          <p:cNvSpPr txBox="true"/>
          <p:nvPr/>
        </p:nvSpPr>
        <p:spPr>
          <a:xfrm rot="0">
            <a:off x="10387462" y="3615723"/>
            <a:ext cx="6302425" cy="4924447"/>
          </a:xfrm>
          <a:prstGeom prst="rect">
            <a:avLst/>
          </a:prstGeom>
        </p:spPr>
        <p:txBody>
          <a:bodyPr anchor="t" rtlCol="false" tIns="0" lIns="0" bIns="0" rIns="0">
            <a:spAutoFit/>
          </a:bodyPr>
          <a:lstStyle/>
          <a:p>
            <a:pPr algn="l" marL="736774" indent="-368387" lvl="1">
              <a:lnSpc>
                <a:spcPts val="3241"/>
              </a:lnSpc>
              <a:buFont typeface="Arial"/>
              <a:buChar char="•"/>
            </a:pPr>
            <a:r>
              <a:rPr lang="en-US" sz="3412">
                <a:solidFill>
                  <a:srgbClr val="5599C7"/>
                </a:solidFill>
                <a:latin typeface="Questrial"/>
                <a:ea typeface="Questrial"/>
                <a:cs typeface="Questrial"/>
                <a:sym typeface="Questrial"/>
              </a:rPr>
              <a:t>The histogram shows the</a:t>
            </a:r>
            <a:r>
              <a:rPr lang="en-US" sz="3412">
                <a:solidFill>
                  <a:srgbClr val="5599C7"/>
                </a:solidFill>
                <a:latin typeface="Questrial"/>
                <a:ea typeface="Questrial"/>
                <a:cs typeface="Questrial"/>
                <a:sym typeface="Questrial"/>
              </a:rPr>
              <a:t> distribution of the traffic stress index.</a:t>
            </a:r>
          </a:p>
          <a:p>
            <a:pPr algn="l" marL="736774" indent="-368387" lvl="1">
              <a:lnSpc>
                <a:spcPts val="3241"/>
              </a:lnSpc>
              <a:buFont typeface="Arial"/>
              <a:buChar char="•"/>
            </a:pPr>
            <a:r>
              <a:rPr lang="en-US" sz="3412">
                <a:solidFill>
                  <a:srgbClr val="5599C7"/>
                </a:solidFill>
                <a:latin typeface="Questrial"/>
                <a:ea typeface="Questrial"/>
                <a:cs typeface="Questrial"/>
                <a:sym typeface="Questrial"/>
              </a:rPr>
              <a:t>The data follows an approximately normal (bell-shaped) distribution.</a:t>
            </a:r>
          </a:p>
          <a:p>
            <a:pPr algn="l" marL="736774" indent="-368387" lvl="1">
              <a:lnSpc>
                <a:spcPts val="3241"/>
              </a:lnSpc>
              <a:buFont typeface="Arial"/>
              <a:buChar char="•"/>
            </a:pPr>
            <a:r>
              <a:rPr lang="en-US" sz="3412">
                <a:solidFill>
                  <a:srgbClr val="5599C7"/>
                </a:solidFill>
                <a:latin typeface="Questrial"/>
                <a:ea typeface="Questrial"/>
                <a:cs typeface="Questrial"/>
                <a:sym typeface="Questrial"/>
              </a:rPr>
              <a:t>Most values are concentrated between 30 and 60.</a:t>
            </a:r>
          </a:p>
          <a:p>
            <a:pPr algn="l" marL="736774" indent="-368387" lvl="1">
              <a:lnSpc>
                <a:spcPts val="3241"/>
              </a:lnSpc>
              <a:buFont typeface="Arial"/>
              <a:buChar char="•"/>
            </a:pPr>
            <a:r>
              <a:rPr lang="en-US" sz="3412">
                <a:solidFill>
                  <a:srgbClr val="5599C7"/>
                </a:solidFill>
                <a:latin typeface="Questrial"/>
                <a:ea typeface="Questrial"/>
                <a:cs typeface="Questrial"/>
                <a:sym typeface="Questrial"/>
              </a:rPr>
              <a:t>This indicates a balanced dataset for model training.</a:t>
            </a:r>
          </a:p>
          <a:p>
            <a:pPr algn="l">
              <a:lnSpc>
                <a:spcPts val="3241"/>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grpSp>
        <p:nvGrpSpPr>
          <p:cNvPr name="Group 6" id="6"/>
          <p:cNvGrpSpPr/>
          <p:nvPr/>
        </p:nvGrpSpPr>
        <p:grpSpPr>
          <a:xfrm rot="0">
            <a:off x="733204" y="704058"/>
            <a:ext cx="16916699" cy="8983077"/>
            <a:chOff x="0" y="0"/>
            <a:chExt cx="4455427" cy="2365913"/>
          </a:xfrm>
        </p:grpSpPr>
        <p:sp>
          <p:nvSpPr>
            <p:cNvPr name="Freeform 7" id="7"/>
            <p:cNvSpPr/>
            <p:nvPr/>
          </p:nvSpPr>
          <p:spPr>
            <a:xfrm flipH="false" flipV="false" rot="0">
              <a:off x="0" y="0"/>
              <a:ext cx="4455427" cy="2365913"/>
            </a:xfrm>
            <a:custGeom>
              <a:avLst/>
              <a:gdLst/>
              <a:ahLst/>
              <a:cxnLst/>
              <a:rect r="r" b="b" t="t" l="l"/>
              <a:pathLst>
                <a:path h="2365913" w="4455427">
                  <a:moveTo>
                    <a:pt x="6865" y="0"/>
                  </a:moveTo>
                  <a:lnTo>
                    <a:pt x="4448562" y="0"/>
                  </a:lnTo>
                  <a:cubicBezTo>
                    <a:pt x="4452353" y="0"/>
                    <a:pt x="4455427" y="3073"/>
                    <a:pt x="4455427" y="6865"/>
                  </a:cubicBezTo>
                  <a:lnTo>
                    <a:pt x="4455427" y="2359049"/>
                  </a:lnTo>
                  <a:cubicBezTo>
                    <a:pt x="4455427" y="2360869"/>
                    <a:pt x="4454704" y="2362615"/>
                    <a:pt x="4453416" y="2363903"/>
                  </a:cubicBezTo>
                  <a:cubicBezTo>
                    <a:pt x="4452129" y="2365190"/>
                    <a:pt x="4450383" y="2365913"/>
                    <a:pt x="4448562" y="2365913"/>
                  </a:cubicBezTo>
                  <a:lnTo>
                    <a:pt x="6865" y="2365913"/>
                  </a:lnTo>
                  <a:cubicBezTo>
                    <a:pt x="5044" y="2365913"/>
                    <a:pt x="3298" y="2365190"/>
                    <a:pt x="2011" y="2363903"/>
                  </a:cubicBezTo>
                  <a:cubicBezTo>
                    <a:pt x="723" y="2362615"/>
                    <a:pt x="0" y="2360869"/>
                    <a:pt x="0" y="2359049"/>
                  </a:cubicBezTo>
                  <a:lnTo>
                    <a:pt x="0" y="6865"/>
                  </a:lnTo>
                  <a:cubicBezTo>
                    <a:pt x="0" y="5044"/>
                    <a:pt x="723" y="3298"/>
                    <a:pt x="2011" y="2011"/>
                  </a:cubicBezTo>
                  <a:cubicBezTo>
                    <a:pt x="3298" y="723"/>
                    <a:pt x="5044" y="0"/>
                    <a:pt x="6865" y="0"/>
                  </a:cubicBezTo>
                  <a:close/>
                </a:path>
              </a:pathLst>
            </a:custGeom>
            <a:solidFill>
              <a:srgbClr val="FFFFFF"/>
            </a:solidFill>
          </p:spPr>
        </p:sp>
        <p:sp>
          <p:nvSpPr>
            <p:cNvPr name="TextBox 8" id="8"/>
            <p:cNvSpPr txBox="true"/>
            <p:nvPr/>
          </p:nvSpPr>
          <p:spPr>
            <a:xfrm>
              <a:off x="0" y="-38100"/>
              <a:ext cx="4455427" cy="2404013"/>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182338" y="1235219"/>
            <a:ext cx="14839011" cy="7816563"/>
          </a:xfrm>
          <a:custGeom>
            <a:avLst/>
            <a:gdLst/>
            <a:ahLst/>
            <a:cxnLst/>
            <a:rect r="r" b="b" t="t" l="l"/>
            <a:pathLst>
              <a:path h="7816563" w="14839011">
                <a:moveTo>
                  <a:pt x="0" y="0"/>
                </a:moveTo>
                <a:lnTo>
                  <a:pt x="14839011" y="0"/>
                </a:lnTo>
                <a:lnTo>
                  <a:pt x="14839011" y="7816562"/>
                </a:lnTo>
                <a:lnTo>
                  <a:pt x="0" y="7816562"/>
                </a:lnTo>
                <a:lnTo>
                  <a:pt x="0" y="0"/>
                </a:lnTo>
                <a:close/>
              </a:path>
            </a:pathLst>
          </a:custGeom>
          <a:blipFill>
            <a:blip r:embed="rId7"/>
            <a:stretch>
              <a:fillRect l="0" t="-1090" r="0" b="0"/>
            </a:stretch>
          </a:blipFill>
        </p:spPr>
      </p:sp>
      <p:sp>
        <p:nvSpPr>
          <p:cNvPr name="TextBox 10" id="10"/>
          <p:cNvSpPr txBox="true"/>
          <p:nvPr/>
        </p:nvSpPr>
        <p:spPr>
          <a:xfrm rot="0">
            <a:off x="11672436" y="5488036"/>
            <a:ext cx="5461978" cy="4985323"/>
          </a:xfrm>
          <a:prstGeom prst="rect">
            <a:avLst/>
          </a:prstGeom>
        </p:spPr>
        <p:txBody>
          <a:bodyPr anchor="t" rtlCol="false" tIns="0" lIns="0" bIns="0" rIns="0">
            <a:spAutoFit/>
          </a:bodyPr>
          <a:lstStyle/>
          <a:p>
            <a:pPr algn="l">
              <a:lnSpc>
                <a:spcPts val="7725"/>
              </a:lnSpc>
            </a:pPr>
            <a:r>
              <a:rPr lang="en-US" sz="8132">
                <a:solidFill>
                  <a:srgbClr val="5599C7"/>
                </a:solidFill>
                <a:latin typeface="Sugo Display"/>
                <a:ea typeface="Sugo Display"/>
                <a:cs typeface="Sugo Display"/>
                <a:sym typeface="Sugo Display"/>
              </a:rPr>
              <a:t>FEATURE VS TARGET (SCATTERPLOTS)</a:t>
            </a:r>
          </a:p>
          <a:p>
            <a:pPr algn="l">
              <a:lnSpc>
                <a:spcPts val="7725"/>
              </a:lnSpc>
            </a:pPr>
          </a:p>
          <a:p>
            <a:pPr algn="l">
              <a:lnSpc>
                <a:spcPts val="772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grpSp>
        <p:nvGrpSpPr>
          <p:cNvPr name="Group 6" id="6"/>
          <p:cNvGrpSpPr/>
          <p:nvPr/>
        </p:nvGrpSpPr>
        <p:grpSpPr>
          <a:xfrm rot="0">
            <a:off x="849897" y="805509"/>
            <a:ext cx="16650436" cy="8881626"/>
            <a:chOff x="0" y="0"/>
            <a:chExt cx="4385300" cy="2339194"/>
          </a:xfrm>
        </p:grpSpPr>
        <p:sp>
          <p:nvSpPr>
            <p:cNvPr name="Freeform 7" id="7"/>
            <p:cNvSpPr/>
            <p:nvPr/>
          </p:nvSpPr>
          <p:spPr>
            <a:xfrm flipH="false" flipV="false" rot="0">
              <a:off x="0" y="0"/>
              <a:ext cx="4385300" cy="2339194"/>
            </a:xfrm>
            <a:custGeom>
              <a:avLst/>
              <a:gdLst/>
              <a:ahLst/>
              <a:cxnLst/>
              <a:rect r="r" b="b" t="t" l="l"/>
              <a:pathLst>
                <a:path h="2339194" w="4385300">
                  <a:moveTo>
                    <a:pt x="6975" y="0"/>
                  </a:moveTo>
                  <a:lnTo>
                    <a:pt x="4378326" y="0"/>
                  </a:lnTo>
                  <a:cubicBezTo>
                    <a:pt x="4382177" y="0"/>
                    <a:pt x="4385300" y="3123"/>
                    <a:pt x="4385300" y="6975"/>
                  </a:cubicBezTo>
                  <a:lnTo>
                    <a:pt x="4385300" y="2332219"/>
                  </a:lnTo>
                  <a:cubicBezTo>
                    <a:pt x="4385300" y="2336071"/>
                    <a:pt x="4382177" y="2339194"/>
                    <a:pt x="4378326" y="2339194"/>
                  </a:cubicBezTo>
                  <a:lnTo>
                    <a:pt x="6975" y="2339194"/>
                  </a:lnTo>
                  <a:cubicBezTo>
                    <a:pt x="3123" y="2339194"/>
                    <a:pt x="0" y="2336071"/>
                    <a:pt x="0" y="2332219"/>
                  </a:cubicBezTo>
                  <a:lnTo>
                    <a:pt x="0" y="6975"/>
                  </a:lnTo>
                  <a:cubicBezTo>
                    <a:pt x="0" y="3123"/>
                    <a:pt x="3123" y="0"/>
                    <a:pt x="6975" y="0"/>
                  </a:cubicBezTo>
                  <a:close/>
                </a:path>
              </a:pathLst>
            </a:custGeom>
            <a:solidFill>
              <a:srgbClr val="FFFFFF"/>
            </a:solidFill>
          </p:spPr>
        </p:sp>
        <p:sp>
          <p:nvSpPr>
            <p:cNvPr name="TextBox 8" id="8"/>
            <p:cNvSpPr txBox="true"/>
            <p:nvPr/>
          </p:nvSpPr>
          <p:spPr>
            <a:xfrm>
              <a:off x="0" y="-38100"/>
              <a:ext cx="4385300" cy="237729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216429" y="2896982"/>
            <a:ext cx="8850668" cy="6441320"/>
          </a:xfrm>
          <a:custGeom>
            <a:avLst/>
            <a:gdLst/>
            <a:ahLst/>
            <a:cxnLst/>
            <a:rect r="r" b="b" t="t" l="l"/>
            <a:pathLst>
              <a:path h="6441320" w="8850668">
                <a:moveTo>
                  <a:pt x="0" y="0"/>
                </a:moveTo>
                <a:lnTo>
                  <a:pt x="8850668" y="0"/>
                </a:lnTo>
                <a:lnTo>
                  <a:pt x="8850668" y="6441319"/>
                </a:lnTo>
                <a:lnTo>
                  <a:pt x="0" y="6441319"/>
                </a:lnTo>
                <a:lnTo>
                  <a:pt x="0" y="0"/>
                </a:lnTo>
                <a:close/>
              </a:path>
            </a:pathLst>
          </a:custGeom>
          <a:blipFill>
            <a:blip r:embed="rId7"/>
            <a:stretch>
              <a:fillRect l="0" t="0" r="0" b="0"/>
            </a:stretch>
          </a:blipFill>
        </p:spPr>
      </p:sp>
      <p:sp>
        <p:nvSpPr>
          <p:cNvPr name="TextBox 10" id="10"/>
          <p:cNvSpPr txBox="true"/>
          <p:nvPr/>
        </p:nvSpPr>
        <p:spPr>
          <a:xfrm rot="0">
            <a:off x="1507030" y="1247775"/>
            <a:ext cx="15752270" cy="1359315"/>
          </a:xfrm>
          <a:prstGeom prst="rect">
            <a:avLst/>
          </a:prstGeom>
        </p:spPr>
        <p:txBody>
          <a:bodyPr anchor="t" rtlCol="false" tIns="0" lIns="0" bIns="0" rIns="0">
            <a:spAutoFit/>
          </a:bodyPr>
          <a:lstStyle/>
          <a:p>
            <a:pPr algn="l">
              <a:lnSpc>
                <a:spcPts val="9892"/>
              </a:lnSpc>
            </a:pPr>
            <a:r>
              <a:rPr lang="en-US" sz="10413">
                <a:solidFill>
                  <a:srgbClr val="5599C7"/>
                </a:solidFill>
                <a:latin typeface="Sugo Display"/>
                <a:ea typeface="Sugo Display"/>
                <a:cs typeface="Sugo Display"/>
                <a:sym typeface="Sugo Display"/>
              </a:rPr>
              <a:t>CATEGORICAL VS TARGET (BOXPLOTS)</a:t>
            </a:r>
          </a:p>
        </p:txBody>
      </p:sp>
      <p:sp>
        <p:nvSpPr>
          <p:cNvPr name="TextBox 11" id="11"/>
          <p:cNvSpPr txBox="true"/>
          <p:nvPr/>
        </p:nvSpPr>
        <p:spPr>
          <a:xfrm rot="0">
            <a:off x="10606228" y="3465704"/>
            <a:ext cx="6653072" cy="5872597"/>
          </a:xfrm>
          <a:prstGeom prst="rect">
            <a:avLst/>
          </a:prstGeom>
        </p:spPr>
        <p:txBody>
          <a:bodyPr anchor="t" rtlCol="false" tIns="0" lIns="0" bIns="0" rIns="0">
            <a:spAutoFit/>
          </a:bodyPr>
          <a:lstStyle/>
          <a:p>
            <a:pPr algn="l" marL="877350" indent="-438675" lvl="1">
              <a:lnSpc>
                <a:spcPts val="3860"/>
              </a:lnSpc>
              <a:buFont typeface="Arial"/>
              <a:buChar char="•"/>
            </a:pPr>
            <a:r>
              <a:rPr lang="en-US" sz="4063">
                <a:solidFill>
                  <a:srgbClr val="5599C7"/>
                </a:solidFill>
                <a:latin typeface="Questrial"/>
                <a:ea typeface="Questrial"/>
                <a:cs typeface="Questrial"/>
                <a:sym typeface="Questrial"/>
              </a:rPr>
              <a:t>Beginn</a:t>
            </a:r>
            <a:r>
              <a:rPr lang="en-US" sz="4063">
                <a:solidFill>
                  <a:srgbClr val="5599C7"/>
                </a:solidFill>
                <a:latin typeface="Questrial"/>
                <a:ea typeface="Questrial"/>
                <a:cs typeface="Questrial"/>
                <a:sym typeface="Questrial"/>
              </a:rPr>
              <a:t>er drivers show the</a:t>
            </a:r>
            <a:r>
              <a:rPr lang="en-US" sz="4063">
                <a:solidFill>
                  <a:srgbClr val="5599C7"/>
                </a:solidFill>
                <a:latin typeface="Questrial"/>
                <a:ea typeface="Questrial"/>
                <a:cs typeface="Questrial"/>
                <a:sym typeface="Questrial"/>
              </a:rPr>
              <a:t> highest stress levels</a:t>
            </a:r>
          </a:p>
          <a:p>
            <a:pPr algn="l" marL="877350" indent="-438675" lvl="1">
              <a:lnSpc>
                <a:spcPts val="3860"/>
              </a:lnSpc>
              <a:buFont typeface="Arial"/>
              <a:buChar char="•"/>
            </a:pPr>
            <a:r>
              <a:rPr lang="en-US" sz="4063">
                <a:solidFill>
                  <a:srgbClr val="5599C7"/>
                </a:solidFill>
                <a:latin typeface="Questrial"/>
                <a:ea typeface="Questrial"/>
                <a:cs typeface="Questrial"/>
                <a:sym typeface="Questrial"/>
              </a:rPr>
              <a:t>Int</a:t>
            </a:r>
            <a:r>
              <a:rPr lang="en-US" sz="4063">
                <a:solidFill>
                  <a:srgbClr val="5599C7"/>
                </a:solidFill>
                <a:latin typeface="Questrial"/>
                <a:ea typeface="Questrial"/>
                <a:cs typeface="Questrial"/>
                <a:sym typeface="Questrial"/>
              </a:rPr>
              <a:t>ermediate drivers have moderate stress levels</a:t>
            </a:r>
          </a:p>
          <a:p>
            <a:pPr algn="l" marL="877350" indent="-438675" lvl="1">
              <a:lnSpc>
                <a:spcPts val="3860"/>
              </a:lnSpc>
              <a:buFont typeface="Arial"/>
              <a:buChar char="•"/>
            </a:pPr>
            <a:r>
              <a:rPr lang="en-US" sz="4063">
                <a:solidFill>
                  <a:srgbClr val="5599C7"/>
                </a:solidFill>
                <a:latin typeface="Questrial"/>
                <a:ea typeface="Questrial"/>
                <a:cs typeface="Questrial"/>
                <a:sym typeface="Questrial"/>
              </a:rPr>
              <a:t>Expert drivers experience the lowest stress levels</a:t>
            </a:r>
          </a:p>
          <a:p>
            <a:pPr algn="l" marL="877350" indent="-438675" lvl="1">
              <a:lnSpc>
                <a:spcPts val="3860"/>
              </a:lnSpc>
              <a:buFont typeface="Arial"/>
              <a:buChar char="•"/>
            </a:pPr>
            <a:r>
              <a:rPr lang="en-US" sz="4063">
                <a:solidFill>
                  <a:srgbClr val="5599C7"/>
                </a:solidFill>
                <a:latin typeface="Questrial"/>
                <a:ea typeface="Questrial"/>
                <a:cs typeface="Questrial"/>
                <a:sym typeface="Questrial"/>
              </a:rPr>
              <a:t>Stress levels decrease as driver experience increases.</a:t>
            </a:r>
          </a:p>
          <a:p>
            <a:pPr algn="l">
              <a:lnSpc>
                <a:spcPts val="386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sp>
        <p:nvSpPr>
          <p:cNvPr name="Freeform 6" id="6"/>
          <p:cNvSpPr/>
          <p:nvPr/>
        </p:nvSpPr>
        <p:spPr>
          <a:xfrm flipH="false" flipV="false" rot="0">
            <a:off x="12100760" y="-559323"/>
            <a:ext cx="4240108" cy="2320495"/>
          </a:xfrm>
          <a:custGeom>
            <a:avLst/>
            <a:gdLst/>
            <a:ahLst/>
            <a:cxnLst/>
            <a:rect r="r" b="b" t="t" l="l"/>
            <a:pathLst>
              <a:path h="2320495" w="4240108">
                <a:moveTo>
                  <a:pt x="0" y="0"/>
                </a:moveTo>
                <a:lnTo>
                  <a:pt x="4240108" y="0"/>
                </a:lnTo>
                <a:lnTo>
                  <a:pt x="4240108" y="2320495"/>
                </a:lnTo>
                <a:lnTo>
                  <a:pt x="0" y="232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312972" y="338836"/>
            <a:ext cx="17676772" cy="9737220"/>
            <a:chOff x="0" y="0"/>
            <a:chExt cx="4655611" cy="2564535"/>
          </a:xfrm>
        </p:grpSpPr>
        <p:sp>
          <p:nvSpPr>
            <p:cNvPr name="Freeform 8" id="8"/>
            <p:cNvSpPr/>
            <p:nvPr/>
          </p:nvSpPr>
          <p:spPr>
            <a:xfrm flipH="false" flipV="false" rot="0">
              <a:off x="0" y="0"/>
              <a:ext cx="4655611" cy="2564535"/>
            </a:xfrm>
            <a:custGeom>
              <a:avLst/>
              <a:gdLst/>
              <a:ahLst/>
              <a:cxnLst/>
              <a:rect r="r" b="b" t="t" l="l"/>
              <a:pathLst>
                <a:path h="2564535" w="4655611">
                  <a:moveTo>
                    <a:pt x="6570" y="0"/>
                  </a:moveTo>
                  <a:lnTo>
                    <a:pt x="4649041" y="0"/>
                  </a:lnTo>
                  <a:cubicBezTo>
                    <a:pt x="4650784" y="0"/>
                    <a:pt x="4652454" y="692"/>
                    <a:pt x="4653686" y="1924"/>
                  </a:cubicBezTo>
                  <a:cubicBezTo>
                    <a:pt x="4654919" y="3156"/>
                    <a:pt x="4655611" y="4827"/>
                    <a:pt x="4655611" y="6570"/>
                  </a:cubicBezTo>
                  <a:lnTo>
                    <a:pt x="4655611" y="2557966"/>
                  </a:lnTo>
                  <a:cubicBezTo>
                    <a:pt x="4655611" y="2559708"/>
                    <a:pt x="4654919" y="2561379"/>
                    <a:pt x="4653686" y="2562611"/>
                  </a:cubicBezTo>
                  <a:cubicBezTo>
                    <a:pt x="4652454" y="2563843"/>
                    <a:pt x="4650784" y="2564535"/>
                    <a:pt x="4649041" y="2564535"/>
                  </a:cubicBezTo>
                  <a:lnTo>
                    <a:pt x="6570" y="2564535"/>
                  </a:lnTo>
                  <a:cubicBezTo>
                    <a:pt x="4827" y="2564535"/>
                    <a:pt x="3156" y="2563843"/>
                    <a:pt x="1924" y="2562611"/>
                  </a:cubicBezTo>
                  <a:cubicBezTo>
                    <a:pt x="692" y="2561379"/>
                    <a:pt x="0" y="2559708"/>
                    <a:pt x="0" y="2557966"/>
                  </a:cubicBezTo>
                  <a:lnTo>
                    <a:pt x="0" y="6570"/>
                  </a:lnTo>
                  <a:cubicBezTo>
                    <a:pt x="0" y="4827"/>
                    <a:pt x="692" y="3156"/>
                    <a:pt x="1924" y="1924"/>
                  </a:cubicBezTo>
                  <a:cubicBezTo>
                    <a:pt x="3156" y="692"/>
                    <a:pt x="4827" y="0"/>
                    <a:pt x="6570" y="0"/>
                  </a:cubicBezTo>
                  <a:close/>
                </a:path>
              </a:pathLst>
            </a:custGeom>
            <a:solidFill>
              <a:srgbClr val="FFFFFF"/>
            </a:solidFill>
          </p:spPr>
        </p:sp>
        <p:sp>
          <p:nvSpPr>
            <p:cNvPr name="TextBox 9" id="9"/>
            <p:cNvSpPr txBox="true"/>
            <p:nvPr/>
          </p:nvSpPr>
          <p:spPr>
            <a:xfrm>
              <a:off x="0" y="-38100"/>
              <a:ext cx="4655611" cy="2602635"/>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297631" y="2732796"/>
            <a:ext cx="9558914" cy="7079345"/>
          </a:xfrm>
          <a:custGeom>
            <a:avLst/>
            <a:gdLst/>
            <a:ahLst/>
            <a:cxnLst/>
            <a:rect r="r" b="b" t="t" l="l"/>
            <a:pathLst>
              <a:path h="7079345" w="9558914">
                <a:moveTo>
                  <a:pt x="0" y="0"/>
                </a:moveTo>
                <a:lnTo>
                  <a:pt x="9558915" y="0"/>
                </a:lnTo>
                <a:lnTo>
                  <a:pt x="9558915" y="7079345"/>
                </a:lnTo>
                <a:lnTo>
                  <a:pt x="0" y="7079345"/>
                </a:lnTo>
                <a:lnTo>
                  <a:pt x="0" y="0"/>
                </a:lnTo>
                <a:close/>
              </a:path>
            </a:pathLst>
          </a:custGeom>
          <a:blipFill>
            <a:blip r:embed="rId9"/>
            <a:stretch>
              <a:fillRect l="-1265" t="-2279" r="0" b="-1296"/>
            </a:stretch>
          </a:blipFill>
        </p:spPr>
      </p:sp>
      <p:sp>
        <p:nvSpPr>
          <p:cNvPr name="TextBox 11" id="11"/>
          <p:cNvSpPr txBox="true"/>
          <p:nvPr/>
        </p:nvSpPr>
        <p:spPr>
          <a:xfrm rot="0">
            <a:off x="4080538" y="810475"/>
            <a:ext cx="10126923" cy="1368481"/>
          </a:xfrm>
          <a:prstGeom prst="rect">
            <a:avLst/>
          </a:prstGeom>
        </p:spPr>
        <p:txBody>
          <a:bodyPr anchor="t" rtlCol="false" tIns="0" lIns="0" bIns="0" rIns="0">
            <a:spAutoFit/>
          </a:bodyPr>
          <a:lstStyle/>
          <a:p>
            <a:pPr algn="l">
              <a:lnSpc>
                <a:spcPts val="9881"/>
              </a:lnSpc>
            </a:pPr>
            <a:r>
              <a:rPr lang="en-US" sz="10401">
                <a:solidFill>
                  <a:srgbClr val="5599C7"/>
                </a:solidFill>
                <a:latin typeface="Sugo Display"/>
                <a:ea typeface="Sugo Display"/>
                <a:cs typeface="Sugo Display"/>
                <a:sym typeface="Sugo Display"/>
              </a:rPr>
              <a:t>CORRELATION ANALYSIS</a:t>
            </a:r>
          </a:p>
        </p:txBody>
      </p:sp>
      <p:sp>
        <p:nvSpPr>
          <p:cNvPr name="TextBox 12" id="12"/>
          <p:cNvSpPr txBox="true"/>
          <p:nvPr/>
        </p:nvSpPr>
        <p:spPr>
          <a:xfrm rot="0">
            <a:off x="11193719" y="2927218"/>
            <a:ext cx="6581734" cy="5823311"/>
          </a:xfrm>
          <a:prstGeom prst="rect">
            <a:avLst/>
          </a:prstGeom>
        </p:spPr>
        <p:txBody>
          <a:bodyPr anchor="t" rtlCol="false" tIns="0" lIns="0" bIns="0" rIns="0">
            <a:spAutoFit/>
          </a:bodyPr>
          <a:lstStyle/>
          <a:p>
            <a:pPr algn="l" marL="703238" indent="-351619" lvl="1">
              <a:lnSpc>
                <a:spcPts val="3094"/>
              </a:lnSpc>
              <a:buFont typeface="Arial"/>
              <a:buChar char="•"/>
            </a:pPr>
            <a:r>
              <a:rPr lang="en-US" sz="3257">
                <a:solidFill>
                  <a:srgbClr val="3B88AF"/>
                </a:solidFill>
                <a:latin typeface="Questrial"/>
                <a:ea typeface="Questrial"/>
                <a:cs typeface="Questrial"/>
                <a:sym typeface="Questrial"/>
              </a:rPr>
              <a:t>Traffic dens</a:t>
            </a:r>
            <a:r>
              <a:rPr lang="en-US" sz="3257">
                <a:solidFill>
                  <a:srgbClr val="3B88AF"/>
                </a:solidFill>
                <a:latin typeface="Questrial"/>
                <a:ea typeface="Questrial"/>
                <a:cs typeface="Questrial"/>
                <a:sym typeface="Questrial"/>
              </a:rPr>
              <a:t>ity, signal wait time, and avg speed are the strongest predictors.</a:t>
            </a:r>
          </a:p>
          <a:p>
            <a:pPr algn="l">
              <a:lnSpc>
                <a:spcPts val="3094"/>
              </a:lnSpc>
            </a:pPr>
          </a:p>
          <a:p>
            <a:pPr algn="l" marL="703238" indent="-351619" lvl="1">
              <a:lnSpc>
                <a:spcPts val="3094"/>
              </a:lnSpc>
              <a:buFont typeface="Arial"/>
              <a:buChar char="•"/>
            </a:pPr>
            <a:r>
              <a:rPr lang="en-US" sz="3257">
                <a:solidFill>
                  <a:srgbClr val="3B88AF"/>
                </a:solidFill>
                <a:latin typeface="Questrial"/>
                <a:ea typeface="Questrial"/>
                <a:cs typeface="Questrial"/>
                <a:sym typeface="Questrial"/>
              </a:rPr>
              <a:t>Traffic density and signal wait time are highly correlated with each other (0.98).</a:t>
            </a:r>
          </a:p>
          <a:p>
            <a:pPr algn="l">
              <a:lnSpc>
                <a:spcPts val="3094"/>
              </a:lnSpc>
            </a:pPr>
          </a:p>
          <a:p>
            <a:pPr algn="l" marL="703238" indent="-351619" lvl="1">
              <a:lnSpc>
                <a:spcPts val="3094"/>
              </a:lnSpc>
              <a:buFont typeface="Arial"/>
              <a:buChar char="•"/>
            </a:pPr>
            <a:r>
              <a:rPr lang="en-US" sz="3257">
                <a:solidFill>
                  <a:srgbClr val="3B88AF"/>
                </a:solidFill>
                <a:latin typeface="Questrial"/>
                <a:ea typeface="Questrial"/>
                <a:cs typeface="Questrial"/>
                <a:sym typeface="Questrial"/>
              </a:rPr>
              <a:t>Weather condition has almost no effect on stress.</a:t>
            </a:r>
          </a:p>
          <a:p>
            <a:pPr algn="l">
              <a:lnSpc>
                <a:spcPts val="3094"/>
              </a:lnSpc>
            </a:pPr>
          </a:p>
          <a:p>
            <a:pPr algn="l" marL="703238" indent="-351619" lvl="1">
              <a:lnSpc>
                <a:spcPts val="3094"/>
              </a:lnSpc>
              <a:buFont typeface="Arial"/>
              <a:buChar char="•"/>
            </a:pPr>
            <a:r>
              <a:rPr lang="en-US" sz="3257">
                <a:solidFill>
                  <a:srgbClr val="3B88AF"/>
                </a:solidFill>
                <a:latin typeface="Questrial"/>
                <a:ea typeface="Questrial"/>
                <a:cs typeface="Questrial"/>
                <a:sym typeface="Questrial"/>
              </a:rPr>
              <a:t>Road quality and driver experience have weak negative correlation with stress.</a:t>
            </a:r>
          </a:p>
          <a:p>
            <a:pPr algn="l">
              <a:lnSpc>
                <a:spcPts val="309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sp>
        <p:nvSpPr>
          <p:cNvPr name="Freeform 6" id="6"/>
          <p:cNvSpPr/>
          <p:nvPr/>
        </p:nvSpPr>
        <p:spPr>
          <a:xfrm flipH="false" flipV="false" rot="0">
            <a:off x="12100760" y="-559323"/>
            <a:ext cx="4240108" cy="2320495"/>
          </a:xfrm>
          <a:custGeom>
            <a:avLst/>
            <a:gdLst/>
            <a:ahLst/>
            <a:cxnLst/>
            <a:rect r="r" b="b" t="t" l="l"/>
            <a:pathLst>
              <a:path h="2320495" w="4240108">
                <a:moveTo>
                  <a:pt x="0" y="0"/>
                </a:moveTo>
                <a:lnTo>
                  <a:pt x="4240108" y="0"/>
                </a:lnTo>
                <a:lnTo>
                  <a:pt x="4240108" y="2320495"/>
                </a:lnTo>
                <a:lnTo>
                  <a:pt x="0" y="232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631753" y="480867"/>
            <a:ext cx="17053640" cy="9447008"/>
            <a:chOff x="0" y="0"/>
            <a:chExt cx="4491494" cy="2488101"/>
          </a:xfrm>
        </p:grpSpPr>
        <p:sp>
          <p:nvSpPr>
            <p:cNvPr name="Freeform 8" id="8"/>
            <p:cNvSpPr/>
            <p:nvPr/>
          </p:nvSpPr>
          <p:spPr>
            <a:xfrm flipH="false" flipV="false" rot="0">
              <a:off x="0" y="0"/>
              <a:ext cx="4491494" cy="2488101"/>
            </a:xfrm>
            <a:custGeom>
              <a:avLst/>
              <a:gdLst/>
              <a:ahLst/>
              <a:cxnLst/>
              <a:rect r="r" b="b" t="t" l="l"/>
              <a:pathLst>
                <a:path h="2488101" w="4491494">
                  <a:moveTo>
                    <a:pt x="6810" y="0"/>
                  </a:moveTo>
                  <a:lnTo>
                    <a:pt x="4484684" y="0"/>
                  </a:lnTo>
                  <a:cubicBezTo>
                    <a:pt x="4486490" y="0"/>
                    <a:pt x="4488222" y="717"/>
                    <a:pt x="4489499" y="1994"/>
                  </a:cubicBezTo>
                  <a:cubicBezTo>
                    <a:pt x="4490776" y="3272"/>
                    <a:pt x="4491494" y="5004"/>
                    <a:pt x="4491494" y="6810"/>
                  </a:cubicBezTo>
                  <a:lnTo>
                    <a:pt x="4491494" y="2481291"/>
                  </a:lnTo>
                  <a:cubicBezTo>
                    <a:pt x="4491494" y="2483097"/>
                    <a:pt x="4490776" y="2484829"/>
                    <a:pt x="4489499" y="2486106"/>
                  </a:cubicBezTo>
                  <a:cubicBezTo>
                    <a:pt x="4488222" y="2487383"/>
                    <a:pt x="4486490" y="2488101"/>
                    <a:pt x="4484684" y="2488101"/>
                  </a:cubicBezTo>
                  <a:lnTo>
                    <a:pt x="6810" y="2488101"/>
                  </a:lnTo>
                  <a:cubicBezTo>
                    <a:pt x="3049" y="2488101"/>
                    <a:pt x="0" y="2485052"/>
                    <a:pt x="0" y="2481291"/>
                  </a:cubicBezTo>
                  <a:lnTo>
                    <a:pt x="0" y="6810"/>
                  </a:lnTo>
                  <a:cubicBezTo>
                    <a:pt x="0" y="5004"/>
                    <a:pt x="717" y="3272"/>
                    <a:pt x="1994" y="1994"/>
                  </a:cubicBezTo>
                  <a:cubicBezTo>
                    <a:pt x="3272" y="717"/>
                    <a:pt x="5004" y="0"/>
                    <a:pt x="6810" y="0"/>
                  </a:cubicBezTo>
                  <a:close/>
                </a:path>
              </a:pathLst>
            </a:custGeom>
            <a:solidFill>
              <a:srgbClr val="FFFFFF"/>
            </a:solidFill>
          </p:spPr>
        </p:sp>
        <p:sp>
          <p:nvSpPr>
            <p:cNvPr name="TextBox 9" id="9"/>
            <p:cNvSpPr txBox="true"/>
            <p:nvPr/>
          </p:nvSpPr>
          <p:spPr>
            <a:xfrm>
              <a:off x="0" y="-38100"/>
              <a:ext cx="4491494" cy="2526201"/>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2648358" y="2417815"/>
            <a:ext cx="12553105" cy="6127242"/>
          </a:xfrm>
          <a:custGeom>
            <a:avLst/>
            <a:gdLst/>
            <a:ahLst/>
            <a:cxnLst/>
            <a:rect r="r" b="b" t="t" l="l"/>
            <a:pathLst>
              <a:path h="6127242" w="12553105">
                <a:moveTo>
                  <a:pt x="0" y="0"/>
                </a:moveTo>
                <a:lnTo>
                  <a:pt x="12553105" y="0"/>
                </a:lnTo>
                <a:lnTo>
                  <a:pt x="12553105" y="6127242"/>
                </a:lnTo>
                <a:lnTo>
                  <a:pt x="0" y="6127242"/>
                </a:lnTo>
                <a:lnTo>
                  <a:pt x="0" y="0"/>
                </a:lnTo>
                <a:close/>
              </a:path>
            </a:pathLst>
          </a:custGeom>
          <a:blipFill>
            <a:blip r:embed="rId9"/>
            <a:stretch>
              <a:fillRect l="0" t="-834" r="0" b="-834"/>
            </a:stretch>
          </a:blipFill>
        </p:spPr>
      </p:sp>
      <p:sp>
        <p:nvSpPr>
          <p:cNvPr name="TextBox 11" id="11"/>
          <p:cNvSpPr txBox="true"/>
          <p:nvPr/>
        </p:nvSpPr>
        <p:spPr>
          <a:xfrm rot="0">
            <a:off x="3244927" y="8928551"/>
            <a:ext cx="10975888" cy="707122"/>
          </a:xfrm>
          <a:prstGeom prst="rect">
            <a:avLst/>
          </a:prstGeom>
        </p:spPr>
        <p:txBody>
          <a:bodyPr anchor="t" rtlCol="false" tIns="0" lIns="0" bIns="0" rIns="0">
            <a:spAutoFit/>
          </a:bodyPr>
          <a:lstStyle/>
          <a:p>
            <a:pPr algn="ctr">
              <a:lnSpc>
                <a:spcPts val="2632"/>
              </a:lnSpc>
            </a:pPr>
            <a:r>
              <a:rPr lang="en-US" sz="2771">
                <a:solidFill>
                  <a:srgbClr val="5599C7"/>
                </a:solidFill>
                <a:latin typeface="Questrial"/>
                <a:ea typeface="Questrial"/>
                <a:cs typeface="Questrial"/>
                <a:sym typeface="Questrial"/>
              </a:rPr>
              <a:t>H</a:t>
            </a:r>
            <a:r>
              <a:rPr lang="en-US" sz="2771">
                <a:solidFill>
                  <a:srgbClr val="5599C7"/>
                </a:solidFill>
                <a:latin typeface="Questrial"/>
                <a:ea typeface="Questrial"/>
                <a:cs typeface="Questrial"/>
                <a:sym typeface="Questrial"/>
              </a:rPr>
              <a:t>orn_events_per_min and road_quality_score has outliers.</a:t>
            </a:r>
          </a:p>
          <a:p>
            <a:pPr algn="ctr">
              <a:lnSpc>
                <a:spcPts val="2632"/>
              </a:lnSpc>
            </a:pPr>
            <a:r>
              <a:rPr lang="en-US" sz="2771">
                <a:solidFill>
                  <a:srgbClr val="5599C7"/>
                </a:solidFill>
                <a:latin typeface="Questrial"/>
                <a:ea typeface="Questrial"/>
                <a:cs typeface="Questrial"/>
                <a:sym typeface="Questrial"/>
              </a:rPr>
              <a:t>Traffic_density, avg_speed and signal_wait_time have no outliers </a:t>
            </a:r>
          </a:p>
        </p:txBody>
      </p:sp>
      <p:sp>
        <p:nvSpPr>
          <p:cNvPr name="TextBox 12" id="12"/>
          <p:cNvSpPr txBox="true"/>
          <p:nvPr/>
        </p:nvSpPr>
        <p:spPr>
          <a:xfrm rot="0">
            <a:off x="2648358" y="994768"/>
            <a:ext cx="12959042" cy="1367557"/>
          </a:xfrm>
          <a:prstGeom prst="rect">
            <a:avLst/>
          </a:prstGeom>
        </p:spPr>
        <p:txBody>
          <a:bodyPr anchor="t" rtlCol="false" tIns="0" lIns="0" bIns="0" rIns="0">
            <a:spAutoFit/>
          </a:bodyPr>
          <a:lstStyle/>
          <a:p>
            <a:pPr algn="l">
              <a:lnSpc>
                <a:spcPts val="9854"/>
              </a:lnSpc>
            </a:pPr>
            <a:r>
              <a:rPr lang="en-US" sz="10372">
                <a:solidFill>
                  <a:srgbClr val="5599C7"/>
                </a:solidFill>
                <a:latin typeface="Sugo Display"/>
                <a:ea typeface="Sugo Display"/>
                <a:cs typeface="Sugo Display"/>
                <a:sym typeface="Sugo Display"/>
              </a:rPr>
              <a:t>OUTLIER DETECTION BOXPLOTS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sp>
        <p:nvSpPr>
          <p:cNvPr name="Freeform 5" id="5"/>
          <p:cNvSpPr/>
          <p:nvPr/>
        </p:nvSpPr>
        <p:spPr>
          <a:xfrm flipH="false" flipV="false" rot="0">
            <a:off x="12100760" y="-559323"/>
            <a:ext cx="4240108" cy="2320495"/>
          </a:xfrm>
          <a:custGeom>
            <a:avLst/>
            <a:gdLst/>
            <a:ahLst/>
            <a:cxnLst/>
            <a:rect r="r" b="b" t="t" l="l"/>
            <a:pathLst>
              <a:path h="2320495" w="4240108">
                <a:moveTo>
                  <a:pt x="0" y="0"/>
                </a:moveTo>
                <a:lnTo>
                  <a:pt x="4240108" y="0"/>
                </a:lnTo>
                <a:lnTo>
                  <a:pt x="4240108" y="2320495"/>
                </a:lnTo>
                <a:lnTo>
                  <a:pt x="0" y="23204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976685" y="1028700"/>
            <a:ext cx="16282615" cy="8229600"/>
            <a:chOff x="0" y="0"/>
            <a:chExt cx="4288425" cy="2167467"/>
          </a:xfrm>
        </p:grpSpPr>
        <p:sp>
          <p:nvSpPr>
            <p:cNvPr name="Freeform 7" id="7"/>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148722" y="1567122"/>
            <a:ext cx="12066940" cy="7033424"/>
            <a:chOff x="0" y="0"/>
            <a:chExt cx="3178124" cy="1852424"/>
          </a:xfrm>
        </p:grpSpPr>
        <p:sp>
          <p:nvSpPr>
            <p:cNvPr name="Freeform 10" id="10"/>
            <p:cNvSpPr/>
            <p:nvPr/>
          </p:nvSpPr>
          <p:spPr>
            <a:xfrm flipH="false" flipV="false" rot="0">
              <a:off x="0" y="0"/>
              <a:ext cx="3178124" cy="1852425"/>
            </a:xfrm>
            <a:custGeom>
              <a:avLst/>
              <a:gdLst/>
              <a:ahLst/>
              <a:cxnLst/>
              <a:rect r="r" b="b" t="t" l="l"/>
              <a:pathLst>
                <a:path h="1852425" w="3178124">
                  <a:moveTo>
                    <a:pt x="0" y="0"/>
                  </a:moveTo>
                  <a:lnTo>
                    <a:pt x="3178124" y="0"/>
                  </a:lnTo>
                  <a:lnTo>
                    <a:pt x="3178124" y="1852425"/>
                  </a:lnTo>
                  <a:lnTo>
                    <a:pt x="0" y="1852425"/>
                  </a:lnTo>
                  <a:close/>
                </a:path>
              </a:pathLst>
            </a:custGeom>
            <a:solidFill>
              <a:srgbClr val="5599C7"/>
            </a:solidFill>
          </p:spPr>
        </p:sp>
        <p:sp>
          <p:nvSpPr>
            <p:cNvPr name="TextBox 11" id="11"/>
            <p:cNvSpPr txBox="true"/>
            <p:nvPr/>
          </p:nvSpPr>
          <p:spPr>
            <a:xfrm>
              <a:off x="0" y="-38100"/>
              <a:ext cx="3178124" cy="189052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670193" y="1913572"/>
            <a:ext cx="10826761" cy="1868218"/>
          </a:xfrm>
          <a:prstGeom prst="rect">
            <a:avLst/>
          </a:prstGeom>
        </p:spPr>
        <p:txBody>
          <a:bodyPr anchor="t" rtlCol="false" tIns="0" lIns="0" bIns="0" rIns="0">
            <a:spAutoFit/>
          </a:bodyPr>
          <a:lstStyle/>
          <a:p>
            <a:pPr algn="ctr">
              <a:lnSpc>
                <a:spcPts val="7052"/>
              </a:lnSpc>
            </a:pPr>
            <a:r>
              <a:rPr lang="en-US" sz="7423">
                <a:solidFill>
                  <a:srgbClr val="FFFFFF"/>
                </a:solidFill>
                <a:latin typeface="Sugo Display"/>
                <a:ea typeface="Sugo Display"/>
                <a:cs typeface="Sugo Display"/>
                <a:sym typeface="Sugo Display"/>
              </a:rPr>
              <a:t>MACHIN</a:t>
            </a:r>
            <a:r>
              <a:rPr lang="en-US" sz="7423">
                <a:solidFill>
                  <a:srgbClr val="FFFFFF"/>
                </a:solidFill>
                <a:latin typeface="Sugo Display"/>
                <a:ea typeface="Sugo Display"/>
                <a:cs typeface="Sugo Display"/>
                <a:sym typeface="Sugo Display"/>
              </a:rPr>
              <a:t>E LEARNING MODELS USED</a:t>
            </a:r>
          </a:p>
          <a:p>
            <a:pPr algn="ctr">
              <a:lnSpc>
                <a:spcPts val="7052"/>
              </a:lnSpc>
            </a:pPr>
          </a:p>
        </p:txBody>
      </p:sp>
      <p:sp>
        <p:nvSpPr>
          <p:cNvPr name="TextBox 13" id="13"/>
          <p:cNvSpPr txBox="true"/>
          <p:nvPr/>
        </p:nvSpPr>
        <p:spPr>
          <a:xfrm rot="0">
            <a:off x="3521902" y="3182077"/>
            <a:ext cx="11693760" cy="5621371"/>
          </a:xfrm>
          <a:prstGeom prst="rect">
            <a:avLst/>
          </a:prstGeom>
        </p:spPr>
        <p:txBody>
          <a:bodyPr anchor="t" rtlCol="false" tIns="0" lIns="0" bIns="0" rIns="0">
            <a:spAutoFit/>
          </a:bodyPr>
          <a:lstStyle/>
          <a:p>
            <a:pPr algn="l" marL="853035" indent="-426518" lvl="1">
              <a:lnSpc>
                <a:spcPts val="3753"/>
              </a:lnSpc>
              <a:buFont typeface="Arial"/>
              <a:buChar char="•"/>
            </a:pPr>
            <a:r>
              <a:rPr lang="en-US" sz="3951">
                <a:solidFill>
                  <a:srgbClr val="FFFFFF"/>
                </a:solidFill>
                <a:latin typeface="Questrial"/>
                <a:ea typeface="Questrial"/>
                <a:cs typeface="Questrial"/>
                <a:sym typeface="Questrial"/>
              </a:rPr>
              <a:t>Linear Regression</a:t>
            </a:r>
          </a:p>
          <a:p>
            <a:pPr algn="l" marL="853035" indent="-426518" lvl="1">
              <a:lnSpc>
                <a:spcPts val="3753"/>
              </a:lnSpc>
              <a:buFont typeface="Arial"/>
              <a:buChar char="•"/>
            </a:pPr>
            <a:r>
              <a:rPr lang="en-US" sz="3951">
                <a:solidFill>
                  <a:srgbClr val="FFFFFF"/>
                </a:solidFill>
                <a:latin typeface="Questrial"/>
                <a:ea typeface="Questrial"/>
                <a:cs typeface="Questrial"/>
                <a:sym typeface="Questrial"/>
              </a:rPr>
              <a:t>D</a:t>
            </a:r>
            <a:r>
              <a:rPr lang="en-US" sz="3951">
                <a:solidFill>
                  <a:srgbClr val="FFFFFF"/>
                </a:solidFill>
                <a:latin typeface="Questrial"/>
                <a:ea typeface="Questrial"/>
                <a:cs typeface="Questrial"/>
                <a:sym typeface="Questrial"/>
              </a:rPr>
              <a:t>ecision Tree Regressor</a:t>
            </a:r>
          </a:p>
          <a:p>
            <a:pPr algn="l" marL="853035" indent="-426518" lvl="1">
              <a:lnSpc>
                <a:spcPts val="3753"/>
              </a:lnSpc>
              <a:buFont typeface="Arial"/>
              <a:buChar char="•"/>
            </a:pPr>
            <a:r>
              <a:rPr lang="en-US" sz="3951">
                <a:solidFill>
                  <a:srgbClr val="FFFFFF"/>
                </a:solidFill>
                <a:latin typeface="Questrial"/>
                <a:ea typeface="Questrial"/>
                <a:cs typeface="Questrial"/>
                <a:sym typeface="Questrial"/>
              </a:rPr>
              <a:t>Random Forest Regressor</a:t>
            </a:r>
          </a:p>
          <a:p>
            <a:pPr algn="l" marL="853035" indent="-426518" lvl="1">
              <a:lnSpc>
                <a:spcPts val="3753"/>
              </a:lnSpc>
              <a:buFont typeface="Arial"/>
              <a:buChar char="•"/>
            </a:pPr>
            <a:r>
              <a:rPr lang="en-US" sz="3951">
                <a:solidFill>
                  <a:srgbClr val="FFFFFF"/>
                </a:solidFill>
                <a:latin typeface="Questrial"/>
                <a:ea typeface="Questrial"/>
                <a:cs typeface="Questrial"/>
                <a:sym typeface="Questrial"/>
              </a:rPr>
              <a:t>K-Nearest Neighbors (KNN)</a:t>
            </a:r>
          </a:p>
          <a:p>
            <a:pPr algn="l" marL="853035" indent="-426518" lvl="1">
              <a:lnSpc>
                <a:spcPts val="3753"/>
              </a:lnSpc>
              <a:buFont typeface="Arial"/>
              <a:buChar char="•"/>
            </a:pPr>
            <a:r>
              <a:rPr lang="en-US" sz="3951">
                <a:solidFill>
                  <a:srgbClr val="FFFFFF"/>
                </a:solidFill>
                <a:latin typeface="Questrial"/>
                <a:ea typeface="Questrial"/>
                <a:cs typeface="Questrial"/>
                <a:sym typeface="Questrial"/>
              </a:rPr>
              <a:t>Support Vector Regression (SVR)</a:t>
            </a:r>
          </a:p>
          <a:p>
            <a:pPr algn="l" marL="853035" indent="-426518" lvl="1">
              <a:lnSpc>
                <a:spcPts val="3753"/>
              </a:lnSpc>
              <a:buFont typeface="Arial"/>
              <a:buChar char="•"/>
            </a:pPr>
            <a:r>
              <a:rPr lang="en-US" sz="3951">
                <a:solidFill>
                  <a:srgbClr val="FFFFFF"/>
                </a:solidFill>
                <a:latin typeface="Questrial"/>
                <a:ea typeface="Questrial"/>
                <a:cs typeface="Questrial"/>
                <a:sym typeface="Questrial"/>
              </a:rPr>
              <a:t>AdaBoost Regressor</a:t>
            </a:r>
          </a:p>
          <a:p>
            <a:pPr algn="l" marL="853035" indent="-426518" lvl="1">
              <a:lnSpc>
                <a:spcPts val="3753"/>
              </a:lnSpc>
              <a:buFont typeface="Arial"/>
              <a:buChar char="•"/>
            </a:pPr>
            <a:r>
              <a:rPr lang="en-US" sz="3951">
                <a:solidFill>
                  <a:srgbClr val="FFFFFF"/>
                </a:solidFill>
                <a:latin typeface="Questrial"/>
                <a:ea typeface="Questrial"/>
                <a:cs typeface="Questrial"/>
                <a:sym typeface="Questrial"/>
              </a:rPr>
              <a:t>Gradient Boosting Regressor</a:t>
            </a:r>
          </a:p>
          <a:p>
            <a:pPr algn="l" marL="853035" indent="-426518" lvl="1">
              <a:lnSpc>
                <a:spcPts val="3753"/>
              </a:lnSpc>
              <a:buFont typeface="Arial"/>
              <a:buChar char="•"/>
            </a:pPr>
            <a:r>
              <a:rPr lang="en-US" sz="3951">
                <a:solidFill>
                  <a:srgbClr val="FFFFFF"/>
                </a:solidFill>
                <a:latin typeface="Questrial"/>
                <a:ea typeface="Questrial"/>
                <a:cs typeface="Questrial"/>
                <a:sym typeface="Questrial"/>
              </a:rPr>
              <a:t>XGBoost Regressor</a:t>
            </a:r>
          </a:p>
          <a:p>
            <a:pPr algn="l">
              <a:lnSpc>
                <a:spcPts val="3753"/>
              </a:lnSpc>
            </a:pPr>
          </a:p>
          <a:p>
            <a:pPr algn="l">
              <a:lnSpc>
                <a:spcPts val="3278"/>
              </a:lnSpc>
            </a:pPr>
            <a:r>
              <a:rPr lang="en-US" sz="3451">
                <a:solidFill>
                  <a:srgbClr val="FFFFFF"/>
                </a:solidFill>
                <a:latin typeface="Questrial"/>
                <a:ea typeface="Questrial"/>
                <a:cs typeface="Questrial"/>
                <a:sym typeface="Questrial"/>
              </a:rPr>
              <a:t>Using multiple models helps determine the best performing algorithm</a:t>
            </a:r>
          </a:p>
          <a:p>
            <a:pPr algn="l">
              <a:lnSpc>
                <a:spcPts val="3753"/>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sp>
        <p:nvSpPr>
          <p:cNvPr name="Freeform 5" id="5"/>
          <p:cNvSpPr/>
          <p:nvPr/>
        </p:nvSpPr>
        <p:spPr>
          <a:xfrm flipH="false" flipV="false" rot="0">
            <a:off x="12100760" y="-559323"/>
            <a:ext cx="4240108" cy="2320495"/>
          </a:xfrm>
          <a:custGeom>
            <a:avLst/>
            <a:gdLst/>
            <a:ahLst/>
            <a:cxnLst/>
            <a:rect r="r" b="b" t="t" l="l"/>
            <a:pathLst>
              <a:path h="2320495" w="4240108">
                <a:moveTo>
                  <a:pt x="0" y="0"/>
                </a:moveTo>
                <a:lnTo>
                  <a:pt x="4240108" y="0"/>
                </a:lnTo>
                <a:lnTo>
                  <a:pt x="4240108" y="2320495"/>
                </a:lnTo>
                <a:lnTo>
                  <a:pt x="0" y="23204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976685" y="1028700"/>
            <a:ext cx="16282615" cy="8229600"/>
            <a:chOff x="0" y="0"/>
            <a:chExt cx="4288425" cy="2167467"/>
          </a:xfrm>
        </p:grpSpPr>
        <p:sp>
          <p:nvSpPr>
            <p:cNvPr name="Freeform 7" id="7"/>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148722" y="1567122"/>
            <a:ext cx="12066940" cy="7033424"/>
            <a:chOff x="0" y="0"/>
            <a:chExt cx="3178124" cy="1852424"/>
          </a:xfrm>
        </p:grpSpPr>
        <p:sp>
          <p:nvSpPr>
            <p:cNvPr name="Freeform 10" id="10"/>
            <p:cNvSpPr/>
            <p:nvPr/>
          </p:nvSpPr>
          <p:spPr>
            <a:xfrm flipH="false" flipV="false" rot="0">
              <a:off x="0" y="0"/>
              <a:ext cx="3178124" cy="1852425"/>
            </a:xfrm>
            <a:custGeom>
              <a:avLst/>
              <a:gdLst/>
              <a:ahLst/>
              <a:cxnLst/>
              <a:rect r="r" b="b" t="t" l="l"/>
              <a:pathLst>
                <a:path h="1852425" w="3178124">
                  <a:moveTo>
                    <a:pt x="0" y="0"/>
                  </a:moveTo>
                  <a:lnTo>
                    <a:pt x="3178124" y="0"/>
                  </a:lnTo>
                  <a:lnTo>
                    <a:pt x="3178124" y="1852425"/>
                  </a:lnTo>
                  <a:lnTo>
                    <a:pt x="0" y="1852425"/>
                  </a:lnTo>
                  <a:close/>
                </a:path>
              </a:pathLst>
            </a:custGeom>
            <a:solidFill>
              <a:srgbClr val="5599C7"/>
            </a:solidFill>
          </p:spPr>
        </p:sp>
        <p:sp>
          <p:nvSpPr>
            <p:cNvPr name="TextBox 11" id="11"/>
            <p:cNvSpPr txBox="true"/>
            <p:nvPr/>
          </p:nvSpPr>
          <p:spPr>
            <a:xfrm>
              <a:off x="0" y="-38100"/>
              <a:ext cx="3178124" cy="189052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670193" y="1913572"/>
            <a:ext cx="10826761" cy="975756"/>
          </a:xfrm>
          <a:prstGeom prst="rect">
            <a:avLst/>
          </a:prstGeom>
        </p:spPr>
        <p:txBody>
          <a:bodyPr anchor="t" rtlCol="false" tIns="0" lIns="0" bIns="0" rIns="0">
            <a:spAutoFit/>
          </a:bodyPr>
          <a:lstStyle/>
          <a:p>
            <a:pPr algn="ctr">
              <a:lnSpc>
                <a:spcPts val="7052"/>
              </a:lnSpc>
            </a:pPr>
            <a:r>
              <a:rPr lang="en-US" sz="7423">
                <a:solidFill>
                  <a:srgbClr val="FFFFFF"/>
                </a:solidFill>
                <a:latin typeface="Sugo Display"/>
                <a:ea typeface="Sugo Display"/>
                <a:cs typeface="Sugo Display"/>
                <a:sym typeface="Sugo Display"/>
              </a:rPr>
              <a:t>MOD</a:t>
            </a:r>
            <a:r>
              <a:rPr lang="en-US" sz="7423">
                <a:solidFill>
                  <a:srgbClr val="FFFFFF"/>
                </a:solidFill>
                <a:latin typeface="Sugo Display"/>
                <a:ea typeface="Sugo Display"/>
                <a:cs typeface="Sugo Display"/>
                <a:sym typeface="Sugo Display"/>
              </a:rPr>
              <a:t>EL EVALUATION</a:t>
            </a:r>
          </a:p>
        </p:txBody>
      </p:sp>
      <p:sp>
        <p:nvSpPr>
          <p:cNvPr name="TextBox 13" id="13"/>
          <p:cNvSpPr txBox="true"/>
          <p:nvPr/>
        </p:nvSpPr>
        <p:spPr>
          <a:xfrm rot="0">
            <a:off x="3670193" y="4491165"/>
            <a:ext cx="14293815" cy="3630926"/>
          </a:xfrm>
          <a:prstGeom prst="rect">
            <a:avLst/>
          </a:prstGeom>
        </p:spPr>
        <p:txBody>
          <a:bodyPr anchor="t" rtlCol="false" tIns="0" lIns="0" bIns="0" rIns="0">
            <a:spAutoFit/>
          </a:bodyPr>
          <a:lstStyle/>
          <a:p>
            <a:pPr algn="l">
              <a:lnSpc>
                <a:spcPts val="3191"/>
              </a:lnSpc>
            </a:pPr>
          </a:p>
          <a:p>
            <a:pPr algn="l" marL="725396" indent="-362698" lvl="1">
              <a:lnSpc>
                <a:spcPts val="3191"/>
              </a:lnSpc>
              <a:buFont typeface="Arial"/>
              <a:buChar char="•"/>
            </a:pPr>
            <a:r>
              <a:rPr lang="en-US" sz="3359">
                <a:solidFill>
                  <a:srgbClr val="FFFFFF"/>
                </a:solidFill>
                <a:latin typeface="Questrial"/>
                <a:ea typeface="Questrial"/>
                <a:cs typeface="Questrial"/>
                <a:sym typeface="Questrial"/>
              </a:rPr>
              <a:t>R² Score (Coefficient of Determination):</a:t>
            </a:r>
          </a:p>
          <a:p>
            <a:pPr algn="l">
              <a:lnSpc>
                <a:spcPts val="3191"/>
              </a:lnSpc>
            </a:pPr>
            <a:r>
              <a:rPr lang="en-US" sz="3359">
                <a:solidFill>
                  <a:srgbClr val="FFFFFF"/>
                </a:solidFill>
                <a:latin typeface="Questrial"/>
                <a:ea typeface="Questrial"/>
                <a:cs typeface="Questrial"/>
                <a:sym typeface="Questrial"/>
              </a:rPr>
              <a:t>               </a:t>
            </a:r>
            <a:r>
              <a:rPr lang="en-US" sz="3359">
                <a:solidFill>
                  <a:srgbClr val="FFFFFF"/>
                </a:solidFill>
                <a:latin typeface="Questrial"/>
                <a:ea typeface="Questrial"/>
                <a:cs typeface="Questrial"/>
                <a:sym typeface="Questrial"/>
              </a:rPr>
              <a:t>Higher value indicates better performance.</a:t>
            </a:r>
          </a:p>
          <a:p>
            <a:pPr algn="l">
              <a:lnSpc>
                <a:spcPts val="3191"/>
              </a:lnSpc>
            </a:pPr>
          </a:p>
          <a:p>
            <a:pPr algn="l" marL="725396" indent="-362698" lvl="1">
              <a:lnSpc>
                <a:spcPts val="3191"/>
              </a:lnSpc>
              <a:buFont typeface="Arial"/>
              <a:buChar char="•"/>
            </a:pPr>
            <a:r>
              <a:rPr lang="en-US" sz="3359">
                <a:solidFill>
                  <a:srgbClr val="FFFFFF"/>
                </a:solidFill>
                <a:latin typeface="Questrial"/>
                <a:ea typeface="Questrial"/>
                <a:cs typeface="Questrial"/>
                <a:sym typeface="Questrial"/>
              </a:rPr>
              <a:t>Mean Absolute Error (MAE):</a:t>
            </a:r>
          </a:p>
          <a:p>
            <a:pPr algn="l">
              <a:lnSpc>
                <a:spcPts val="3191"/>
              </a:lnSpc>
            </a:pPr>
            <a:r>
              <a:rPr lang="en-US" sz="3359">
                <a:solidFill>
                  <a:srgbClr val="FFFFFF"/>
                </a:solidFill>
                <a:latin typeface="Questrial"/>
                <a:ea typeface="Questrial"/>
                <a:cs typeface="Questrial"/>
                <a:sym typeface="Questrial"/>
              </a:rPr>
              <a:t>               </a:t>
            </a:r>
            <a:r>
              <a:rPr lang="en-US" sz="3359">
                <a:solidFill>
                  <a:srgbClr val="FFFFFF"/>
                </a:solidFill>
                <a:latin typeface="Questrial"/>
                <a:ea typeface="Questrial"/>
                <a:cs typeface="Questrial"/>
                <a:sym typeface="Questrial"/>
              </a:rPr>
              <a:t>Lower value indicates better accuracy.</a:t>
            </a:r>
          </a:p>
          <a:p>
            <a:pPr algn="l">
              <a:lnSpc>
                <a:spcPts val="3191"/>
              </a:lnSpc>
            </a:pPr>
          </a:p>
          <a:p>
            <a:pPr algn="l" marL="725396" indent="-362698" lvl="1">
              <a:lnSpc>
                <a:spcPts val="3191"/>
              </a:lnSpc>
              <a:buFont typeface="Arial"/>
              <a:buChar char="•"/>
            </a:pPr>
            <a:r>
              <a:rPr lang="en-US" sz="3359">
                <a:solidFill>
                  <a:srgbClr val="FFFFFF"/>
                </a:solidFill>
                <a:latin typeface="Questrial"/>
                <a:ea typeface="Questrial"/>
                <a:cs typeface="Questrial"/>
                <a:sym typeface="Questrial"/>
              </a:rPr>
              <a:t>Mea</a:t>
            </a:r>
            <a:r>
              <a:rPr lang="en-US" sz="3359">
                <a:solidFill>
                  <a:srgbClr val="FFFFFF"/>
                </a:solidFill>
                <a:latin typeface="Questrial"/>
                <a:ea typeface="Questrial"/>
                <a:cs typeface="Questrial"/>
                <a:sym typeface="Questrial"/>
              </a:rPr>
              <a:t>n Squared Error (MSE):</a:t>
            </a:r>
          </a:p>
          <a:p>
            <a:pPr algn="l">
              <a:lnSpc>
                <a:spcPts val="3191"/>
              </a:lnSpc>
            </a:pPr>
            <a:r>
              <a:rPr lang="en-US" sz="3359">
                <a:solidFill>
                  <a:srgbClr val="FFFFFF"/>
                </a:solidFill>
                <a:latin typeface="Questrial"/>
                <a:ea typeface="Questrial"/>
                <a:cs typeface="Questrial"/>
                <a:sym typeface="Questrial"/>
              </a:rPr>
              <a:t>               </a:t>
            </a:r>
            <a:r>
              <a:rPr lang="en-US" sz="3359">
                <a:solidFill>
                  <a:srgbClr val="FFFFFF"/>
                </a:solidFill>
                <a:latin typeface="Questrial"/>
                <a:ea typeface="Questrial"/>
                <a:cs typeface="Questrial"/>
                <a:sym typeface="Questrial"/>
              </a:rPr>
              <a:t>Penalizes larger errors more strongly.</a:t>
            </a:r>
          </a:p>
        </p:txBody>
      </p:sp>
      <p:sp>
        <p:nvSpPr>
          <p:cNvPr name="TextBox 14" id="14"/>
          <p:cNvSpPr txBox="true"/>
          <p:nvPr/>
        </p:nvSpPr>
        <p:spPr>
          <a:xfrm rot="0">
            <a:off x="3481456" y="3202885"/>
            <a:ext cx="12479450" cy="733624"/>
          </a:xfrm>
          <a:prstGeom prst="rect">
            <a:avLst/>
          </a:prstGeom>
        </p:spPr>
        <p:txBody>
          <a:bodyPr anchor="t" rtlCol="false" tIns="0" lIns="0" bIns="0" rIns="0">
            <a:spAutoFit/>
          </a:bodyPr>
          <a:lstStyle/>
          <a:p>
            <a:pPr algn="l">
              <a:lnSpc>
                <a:spcPts val="2786"/>
              </a:lnSpc>
            </a:pPr>
            <a:r>
              <a:rPr lang="en-US" sz="2933">
                <a:solidFill>
                  <a:srgbClr val="FFFFFF"/>
                </a:solidFill>
                <a:latin typeface="Questrial"/>
                <a:ea typeface="Questrial"/>
                <a:cs typeface="Questrial"/>
                <a:sym typeface="Questrial"/>
              </a:rPr>
              <a:t>Af</a:t>
            </a:r>
            <a:r>
              <a:rPr lang="en-US" sz="2933">
                <a:solidFill>
                  <a:srgbClr val="FFFFFF"/>
                </a:solidFill>
                <a:latin typeface="Questrial"/>
                <a:ea typeface="Questrial"/>
                <a:cs typeface="Questrial"/>
                <a:sym typeface="Questrial"/>
              </a:rPr>
              <a:t>ter training the machine learning models, their performance was evaluated using st</a:t>
            </a:r>
            <a:r>
              <a:rPr lang="en-US" sz="2933">
                <a:solidFill>
                  <a:srgbClr val="FFFFFF"/>
                </a:solidFill>
                <a:latin typeface="Questrial"/>
                <a:ea typeface="Questrial"/>
                <a:cs typeface="Questrial"/>
                <a:sym typeface="Questrial"/>
              </a:rPr>
              <a:t>a</a:t>
            </a:r>
            <a:r>
              <a:rPr lang="en-US" sz="2933">
                <a:solidFill>
                  <a:srgbClr val="FFFFFF"/>
                </a:solidFill>
                <a:latin typeface="Questrial"/>
                <a:ea typeface="Questrial"/>
                <a:cs typeface="Questrial"/>
                <a:sym typeface="Questrial"/>
              </a:rPr>
              <a:t>ndard regression metrics.</a:t>
            </a:r>
          </a:p>
        </p:txBody>
      </p:sp>
      <p:sp>
        <p:nvSpPr>
          <p:cNvPr name="TextBox 15" id="15"/>
          <p:cNvSpPr txBox="true"/>
          <p:nvPr/>
        </p:nvSpPr>
        <p:spPr>
          <a:xfrm rot="0">
            <a:off x="3670193" y="4119070"/>
            <a:ext cx="11401471" cy="360505"/>
          </a:xfrm>
          <a:prstGeom prst="rect">
            <a:avLst/>
          </a:prstGeom>
        </p:spPr>
        <p:txBody>
          <a:bodyPr anchor="t" rtlCol="false" tIns="0" lIns="0" bIns="0" rIns="0">
            <a:spAutoFit/>
          </a:bodyPr>
          <a:lstStyle/>
          <a:p>
            <a:pPr algn="l">
              <a:lnSpc>
                <a:spcPts val="2546"/>
              </a:lnSpc>
            </a:pPr>
            <a:r>
              <a:rPr lang="en-US" sz="2680">
                <a:solidFill>
                  <a:srgbClr val="FFFFFF"/>
                </a:solidFill>
                <a:latin typeface="Questrial"/>
                <a:ea typeface="Questrial"/>
                <a:cs typeface="Questrial"/>
                <a:sym typeface="Questrial"/>
              </a:rPr>
              <a:t>E</a:t>
            </a:r>
            <a:r>
              <a:rPr lang="en-US" sz="2680">
                <a:solidFill>
                  <a:srgbClr val="FFFFFF"/>
                </a:solidFill>
                <a:latin typeface="Questrial"/>
                <a:ea typeface="Questrial"/>
                <a:cs typeface="Questrial"/>
                <a:sym typeface="Questrial"/>
              </a:rPr>
              <a:t>valuat</a:t>
            </a:r>
            <a:r>
              <a:rPr lang="en-US" sz="2680">
                <a:solidFill>
                  <a:srgbClr val="FFFFFF"/>
                </a:solidFill>
                <a:latin typeface="Questrial"/>
                <a:ea typeface="Questrial"/>
                <a:cs typeface="Questrial"/>
                <a:sym typeface="Questrial"/>
              </a:rPr>
              <a:t>ion Metrics Used: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5"/>
            <a:stretch>
              <a:fillRect l="0" t="0" r="0" b="0"/>
            </a:stretch>
          </a:blipFill>
        </p:spPr>
      </p:sp>
      <p:sp>
        <p:nvSpPr>
          <p:cNvPr name="Freeform 5" id="5"/>
          <p:cNvSpPr/>
          <p:nvPr/>
        </p:nvSpPr>
        <p:spPr>
          <a:xfrm flipH="false" flipV="false" rot="0">
            <a:off x="12100760" y="-559323"/>
            <a:ext cx="4240108" cy="2320495"/>
          </a:xfrm>
          <a:custGeom>
            <a:avLst/>
            <a:gdLst/>
            <a:ahLst/>
            <a:cxnLst/>
            <a:rect r="r" b="b" t="t" l="l"/>
            <a:pathLst>
              <a:path h="2320495" w="4240108">
                <a:moveTo>
                  <a:pt x="0" y="0"/>
                </a:moveTo>
                <a:lnTo>
                  <a:pt x="4240108" y="0"/>
                </a:lnTo>
                <a:lnTo>
                  <a:pt x="4240108" y="2320495"/>
                </a:lnTo>
                <a:lnTo>
                  <a:pt x="0" y="23204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976685" y="1028700"/>
            <a:ext cx="16282615" cy="8229600"/>
            <a:chOff x="0" y="0"/>
            <a:chExt cx="4288425" cy="2167467"/>
          </a:xfrm>
        </p:grpSpPr>
        <p:sp>
          <p:nvSpPr>
            <p:cNvPr name="Freeform 7" id="7"/>
            <p:cNvSpPr/>
            <p:nvPr/>
          </p:nvSpPr>
          <p:spPr>
            <a:xfrm flipH="false" flipV="false" rot="0">
              <a:off x="0" y="0"/>
              <a:ext cx="4288425" cy="2167467"/>
            </a:xfrm>
            <a:custGeom>
              <a:avLst/>
              <a:gdLst/>
              <a:ahLst/>
              <a:cxnLst/>
              <a:rect r="r" b="b" t="t" l="l"/>
              <a:pathLst>
                <a:path h="2167467" w="4288425">
                  <a:moveTo>
                    <a:pt x="7132" y="0"/>
                  </a:moveTo>
                  <a:lnTo>
                    <a:pt x="4281293" y="0"/>
                  </a:lnTo>
                  <a:cubicBezTo>
                    <a:pt x="4283185" y="0"/>
                    <a:pt x="4284999" y="751"/>
                    <a:pt x="4286336" y="2089"/>
                  </a:cubicBezTo>
                  <a:cubicBezTo>
                    <a:pt x="4287674" y="3426"/>
                    <a:pt x="4288425" y="5241"/>
                    <a:pt x="4288425" y="7132"/>
                  </a:cubicBezTo>
                  <a:lnTo>
                    <a:pt x="4288425" y="2160335"/>
                  </a:lnTo>
                  <a:cubicBezTo>
                    <a:pt x="4288425" y="2164274"/>
                    <a:pt x="4285232" y="2167467"/>
                    <a:pt x="4281293" y="2167467"/>
                  </a:cubicBezTo>
                  <a:lnTo>
                    <a:pt x="7132" y="2167467"/>
                  </a:lnTo>
                  <a:cubicBezTo>
                    <a:pt x="5241" y="2167467"/>
                    <a:pt x="3426" y="2166715"/>
                    <a:pt x="2089" y="2165378"/>
                  </a:cubicBezTo>
                  <a:cubicBezTo>
                    <a:pt x="751" y="2164040"/>
                    <a:pt x="0" y="2162226"/>
                    <a:pt x="0" y="216033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5313163" y="1669546"/>
            <a:ext cx="7661673" cy="1495535"/>
          </a:xfrm>
          <a:prstGeom prst="rect">
            <a:avLst/>
          </a:prstGeom>
        </p:spPr>
        <p:txBody>
          <a:bodyPr anchor="t" rtlCol="false" tIns="0" lIns="0" bIns="0" rIns="0">
            <a:spAutoFit/>
          </a:bodyPr>
          <a:lstStyle/>
          <a:p>
            <a:pPr algn="ctr">
              <a:lnSpc>
                <a:spcPts val="10837"/>
              </a:lnSpc>
            </a:pPr>
            <a:r>
              <a:rPr lang="en-US" sz="11407">
                <a:solidFill>
                  <a:srgbClr val="5599C7"/>
                </a:solidFill>
                <a:latin typeface="Sugo Display"/>
                <a:ea typeface="Sugo Display"/>
                <a:cs typeface="Sugo Display"/>
                <a:sym typeface="Sugo Display"/>
              </a:rPr>
              <a:t>BEST MODEL</a:t>
            </a:r>
          </a:p>
        </p:txBody>
      </p:sp>
      <p:grpSp>
        <p:nvGrpSpPr>
          <p:cNvPr name="Group 10" id="10"/>
          <p:cNvGrpSpPr/>
          <p:nvPr/>
        </p:nvGrpSpPr>
        <p:grpSpPr>
          <a:xfrm rot="0">
            <a:off x="3857873" y="3611217"/>
            <a:ext cx="491474" cy="49147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99C7"/>
            </a:solidFill>
          </p:spPr>
        </p:sp>
        <p:sp>
          <p:nvSpPr>
            <p:cNvPr name="TextBox 12" id="12"/>
            <p:cNvSpPr txBox="true"/>
            <p:nvPr/>
          </p:nvSpPr>
          <p:spPr>
            <a:xfrm>
              <a:off x="76200" y="38100"/>
              <a:ext cx="660400" cy="698500"/>
            </a:xfrm>
            <a:prstGeom prst="rect">
              <a:avLst/>
            </a:prstGeom>
          </p:spPr>
          <p:txBody>
            <a:bodyPr anchor="ctr" rtlCol="false" tIns="47708" lIns="47708" bIns="47708" rIns="47708"/>
            <a:lstStyle/>
            <a:p>
              <a:pPr algn="ctr">
                <a:lnSpc>
                  <a:spcPts val="2659"/>
                </a:lnSpc>
              </a:pPr>
            </a:p>
          </p:txBody>
        </p:sp>
      </p:grpSp>
      <p:sp>
        <p:nvSpPr>
          <p:cNvPr name="AutoShape 13" id="13"/>
          <p:cNvSpPr/>
          <p:nvPr/>
        </p:nvSpPr>
        <p:spPr>
          <a:xfrm>
            <a:off x="4349347" y="3839063"/>
            <a:ext cx="4384301" cy="17890"/>
          </a:xfrm>
          <a:prstGeom prst="line">
            <a:avLst/>
          </a:prstGeom>
          <a:ln cap="flat" w="38100">
            <a:solidFill>
              <a:srgbClr val="5599C7"/>
            </a:solidFill>
            <a:prstDash val="solid"/>
            <a:headEnd type="none" len="sm" w="sm"/>
            <a:tailEnd type="none" len="sm" w="sm"/>
          </a:ln>
        </p:spPr>
      </p:sp>
      <p:sp>
        <p:nvSpPr>
          <p:cNvPr name="TextBox 14" id="14"/>
          <p:cNvSpPr txBox="true"/>
          <p:nvPr/>
        </p:nvSpPr>
        <p:spPr>
          <a:xfrm rot="0">
            <a:off x="1475156" y="5156099"/>
            <a:ext cx="16431936" cy="3063188"/>
          </a:xfrm>
          <a:prstGeom prst="rect">
            <a:avLst/>
          </a:prstGeom>
        </p:spPr>
        <p:txBody>
          <a:bodyPr anchor="t" rtlCol="false" tIns="0" lIns="0" bIns="0" rIns="0">
            <a:spAutoFit/>
          </a:bodyPr>
          <a:lstStyle/>
          <a:p>
            <a:pPr algn="l" marL="910863" indent="-455432" lvl="1">
              <a:lnSpc>
                <a:spcPts val="4007"/>
              </a:lnSpc>
              <a:buFont typeface="Arial"/>
              <a:buChar char="•"/>
            </a:pPr>
            <a:r>
              <a:rPr lang="en-US" sz="4218">
                <a:solidFill>
                  <a:srgbClr val="3B88AF"/>
                </a:solidFill>
                <a:latin typeface="Questrial"/>
                <a:ea typeface="Questrial"/>
                <a:cs typeface="Questrial"/>
                <a:sym typeface="Questrial"/>
              </a:rPr>
              <a:t>Best perform</a:t>
            </a:r>
            <a:r>
              <a:rPr lang="en-US" sz="4218">
                <a:solidFill>
                  <a:srgbClr val="3B88AF"/>
                </a:solidFill>
                <a:latin typeface="Questrial"/>
                <a:ea typeface="Questrial"/>
                <a:cs typeface="Questrial"/>
                <a:sym typeface="Questrial"/>
              </a:rPr>
              <a:t>ing model: </a:t>
            </a:r>
          </a:p>
          <a:p>
            <a:pPr algn="l" marL="910863" indent="-455432" lvl="1">
              <a:lnSpc>
                <a:spcPts val="4007"/>
              </a:lnSpc>
              <a:buFont typeface="Arial"/>
              <a:buChar char="•"/>
            </a:pPr>
            <a:r>
              <a:rPr lang="en-US" sz="4218">
                <a:solidFill>
                  <a:srgbClr val="3B88AF"/>
                </a:solidFill>
                <a:latin typeface="Questrial"/>
                <a:ea typeface="Questrial"/>
                <a:cs typeface="Questrial"/>
                <a:sym typeface="Questrial"/>
              </a:rPr>
              <a:t>Reasons:</a:t>
            </a:r>
          </a:p>
          <a:p>
            <a:pPr algn="just">
              <a:lnSpc>
                <a:spcPts val="4007"/>
              </a:lnSpc>
            </a:pPr>
            <a:r>
              <a:rPr lang="en-US" sz="4218">
                <a:solidFill>
                  <a:srgbClr val="93BBD5"/>
                </a:solidFill>
                <a:latin typeface="Questrial"/>
                <a:ea typeface="Questrial"/>
                <a:cs typeface="Questrial"/>
                <a:sym typeface="Questrial"/>
              </a:rPr>
              <a:t>                  </a:t>
            </a:r>
            <a:r>
              <a:rPr lang="en-US" sz="4218">
                <a:solidFill>
                  <a:srgbClr val="5599C7"/>
                </a:solidFill>
                <a:latin typeface="Questrial"/>
                <a:ea typeface="Questrial"/>
                <a:cs typeface="Questrial"/>
                <a:sym typeface="Questrial"/>
              </a:rPr>
              <a:t>Highest test R² score</a:t>
            </a:r>
          </a:p>
          <a:p>
            <a:pPr algn="just">
              <a:lnSpc>
                <a:spcPts val="4007"/>
              </a:lnSpc>
            </a:pPr>
            <a:r>
              <a:rPr lang="en-US" sz="4218">
                <a:solidFill>
                  <a:srgbClr val="5599C7"/>
                </a:solidFill>
                <a:latin typeface="Questrial"/>
                <a:ea typeface="Questrial"/>
                <a:cs typeface="Questrial"/>
                <a:sym typeface="Questrial"/>
              </a:rPr>
              <a:t>                  </a:t>
            </a:r>
            <a:r>
              <a:rPr lang="en-US" sz="4218">
                <a:solidFill>
                  <a:srgbClr val="5599C7"/>
                </a:solidFill>
                <a:latin typeface="Questrial"/>
                <a:ea typeface="Questrial"/>
                <a:cs typeface="Questrial"/>
                <a:sym typeface="Questrial"/>
              </a:rPr>
              <a:t>Good generalization performance</a:t>
            </a:r>
          </a:p>
          <a:p>
            <a:pPr algn="just">
              <a:lnSpc>
                <a:spcPts val="4007"/>
              </a:lnSpc>
            </a:pPr>
            <a:r>
              <a:rPr lang="en-US" sz="4218">
                <a:solidFill>
                  <a:srgbClr val="5599C7"/>
                </a:solidFill>
                <a:latin typeface="Questrial"/>
                <a:ea typeface="Questrial"/>
                <a:cs typeface="Questrial"/>
                <a:sym typeface="Questrial"/>
              </a:rPr>
              <a:t>                  </a:t>
            </a:r>
            <a:r>
              <a:rPr lang="en-US" sz="4218">
                <a:solidFill>
                  <a:srgbClr val="5599C7"/>
                </a:solidFill>
                <a:latin typeface="Questrial"/>
                <a:ea typeface="Questrial"/>
                <a:cs typeface="Questrial"/>
                <a:sym typeface="Questrial"/>
              </a:rPr>
              <a:t>Handles non-linear relationships</a:t>
            </a:r>
          </a:p>
          <a:p>
            <a:pPr algn="l">
              <a:lnSpc>
                <a:spcPts val="4007"/>
              </a:lnSpc>
            </a:pPr>
          </a:p>
        </p:txBody>
      </p:sp>
      <p:grpSp>
        <p:nvGrpSpPr>
          <p:cNvPr name="Group 15" id="15"/>
          <p:cNvGrpSpPr/>
          <p:nvPr/>
        </p:nvGrpSpPr>
        <p:grpSpPr>
          <a:xfrm rot="0">
            <a:off x="8733648" y="3611217"/>
            <a:ext cx="491474" cy="49147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99C7"/>
            </a:solidFill>
          </p:spPr>
        </p:sp>
        <p:sp>
          <p:nvSpPr>
            <p:cNvPr name="TextBox 17" id="17"/>
            <p:cNvSpPr txBox="true"/>
            <p:nvPr/>
          </p:nvSpPr>
          <p:spPr>
            <a:xfrm>
              <a:off x="76200" y="38100"/>
              <a:ext cx="660400" cy="698500"/>
            </a:xfrm>
            <a:prstGeom prst="rect">
              <a:avLst/>
            </a:prstGeom>
          </p:spPr>
          <p:txBody>
            <a:bodyPr anchor="ctr" rtlCol="false" tIns="47708" lIns="47708" bIns="47708" rIns="47708"/>
            <a:lstStyle/>
            <a:p>
              <a:pPr algn="ctr">
                <a:lnSpc>
                  <a:spcPts val="2659"/>
                </a:lnSpc>
              </a:pPr>
            </a:p>
          </p:txBody>
        </p:sp>
      </p:grpSp>
      <p:grpSp>
        <p:nvGrpSpPr>
          <p:cNvPr name="Group 18" id="18"/>
          <p:cNvGrpSpPr/>
          <p:nvPr/>
        </p:nvGrpSpPr>
        <p:grpSpPr>
          <a:xfrm rot="0">
            <a:off x="13447179" y="3611217"/>
            <a:ext cx="491474" cy="49147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99C7"/>
            </a:solidFill>
          </p:spPr>
        </p:sp>
        <p:sp>
          <p:nvSpPr>
            <p:cNvPr name="TextBox 20" id="20"/>
            <p:cNvSpPr txBox="true"/>
            <p:nvPr/>
          </p:nvSpPr>
          <p:spPr>
            <a:xfrm>
              <a:off x="76200" y="38100"/>
              <a:ext cx="660400" cy="698500"/>
            </a:xfrm>
            <a:prstGeom prst="rect">
              <a:avLst/>
            </a:prstGeom>
          </p:spPr>
          <p:txBody>
            <a:bodyPr anchor="ctr" rtlCol="false" tIns="47708" lIns="47708" bIns="47708" rIns="47708"/>
            <a:lstStyle/>
            <a:p>
              <a:pPr algn="ctr">
                <a:lnSpc>
                  <a:spcPts val="2659"/>
                </a:lnSpc>
              </a:pPr>
            </a:p>
          </p:txBody>
        </p:sp>
      </p:grpSp>
      <p:sp>
        <p:nvSpPr>
          <p:cNvPr name="AutoShape 21" id="21"/>
          <p:cNvSpPr/>
          <p:nvPr/>
        </p:nvSpPr>
        <p:spPr>
          <a:xfrm>
            <a:off x="9141560" y="3874844"/>
            <a:ext cx="4359877" cy="0"/>
          </a:xfrm>
          <a:prstGeom prst="line">
            <a:avLst/>
          </a:prstGeom>
          <a:ln cap="flat" w="38100">
            <a:solidFill>
              <a:srgbClr val="5599C7"/>
            </a:solidFill>
            <a:prstDash val="solid"/>
            <a:headEnd type="none" len="sm" w="sm"/>
            <a:tailEnd type="none" len="sm" w="sm"/>
          </a:ln>
        </p:spPr>
      </p:sp>
      <p:sp>
        <p:nvSpPr>
          <p:cNvPr name="TextBox 22" id="22"/>
          <p:cNvSpPr txBox="true"/>
          <p:nvPr/>
        </p:nvSpPr>
        <p:spPr>
          <a:xfrm rot="0">
            <a:off x="8011750" y="5017201"/>
            <a:ext cx="7538430" cy="691921"/>
          </a:xfrm>
          <a:prstGeom prst="rect">
            <a:avLst/>
          </a:prstGeom>
        </p:spPr>
        <p:txBody>
          <a:bodyPr anchor="t" rtlCol="false" tIns="0" lIns="0" bIns="0" rIns="0">
            <a:spAutoFit/>
          </a:bodyPr>
          <a:lstStyle/>
          <a:p>
            <a:pPr algn="ctr">
              <a:lnSpc>
                <a:spcPts val="4920"/>
              </a:lnSpc>
            </a:pPr>
            <a:r>
              <a:rPr lang="en-US" sz="5179">
                <a:solidFill>
                  <a:srgbClr val="5599C7"/>
                </a:solidFill>
                <a:latin typeface="Sugo Display"/>
                <a:ea typeface="Sugo Display"/>
                <a:cs typeface="Sugo Display"/>
                <a:sym typeface="Sugo Display"/>
              </a:rPr>
              <a:t>SUPPORT VECTOR REGRESSOR (SVR)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sp>
        <p:nvSpPr>
          <p:cNvPr name="Freeform 6" id="6"/>
          <p:cNvSpPr/>
          <p:nvPr/>
        </p:nvSpPr>
        <p:spPr>
          <a:xfrm flipH="false" flipV="false" rot="0">
            <a:off x="12100760" y="-559323"/>
            <a:ext cx="4240108" cy="2320495"/>
          </a:xfrm>
          <a:custGeom>
            <a:avLst/>
            <a:gdLst/>
            <a:ahLst/>
            <a:cxnLst/>
            <a:rect r="r" b="b" t="t" l="l"/>
            <a:pathLst>
              <a:path h="2320495" w="4240108">
                <a:moveTo>
                  <a:pt x="0" y="0"/>
                </a:moveTo>
                <a:lnTo>
                  <a:pt x="4240108" y="0"/>
                </a:lnTo>
                <a:lnTo>
                  <a:pt x="4240108" y="2320495"/>
                </a:lnTo>
                <a:lnTo>
                  <a:pt x="0" y="2320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666549" y="1028700"/>
            <a:ext cx="14674319" cy="8229600"/>
            <a:chOff x="0" y="0"/>
            <a:chExt cx="3864841" cy="2167467"/>
          </a:xfrm>
        </p:grpSpPr>
        <p:sp>
          <p:nvSpPr>
            <p:cNvPr name="Freeform 8" id="8"/>
            <p:cNvSpPr/>
            <p:nvPr/>
          </p:nvSpPr>
          <p:spPr>
            <a:xfrm flipH="false" flipV="false" rot="0">
              <a:off x="0" y="0"/>
              <a:ext cx="3864841" cy="2167467"/>
            </a:xfrm>
            <a:custGeom>
              <a:avLst/>
              <a:gdLst/>
              <a:ahLst/>
              <a:cxnLst/>
              <a:rect r="r" b="b" t="t" l="l"/>
              <a:pathLst>
                <a:path h="2167467" w="3864841">
                  <a:moveTo>
                    <a:pt x="7914" y="0"/>
                  </a:moveTo>
                  <a:lnTo>
                    <a:pt x="3856927" y="0"/>
                  </a:lnTo>
                  <a:cubicBezTo>
                    <a:pt x="3859026" y="0"/>
                    <a:pt x="3861039" y="834"/>
                    <a:pt x="3862524" y="2318"/>
                  </a:cubicBezTo>
                  <a:cubicBezTo>
                    <a:pt x="3864008" y="3802"/>
                    <a:pt x="3864841" y="5815"/>
                    <a:pt x="3864841" y="7914"/>
                  </a:cubicBezTo>
                  <a:lnTo>
                    <a:pt x="3864841" y="2159553"/>
                  </a:lnTo>
                  <a:cubicBezTo>
                    <a:pt x="3864841" y="2161652"/>
                    <a:pt x="3864008" y="2163665"/>
                    <a:pt x="3862524" y="2165149"/>
                  </a:cubicBezTo>
                  <a:cubicBezTo>
                    <a:pt x="3861039" y="2166633"/>
                    <a:pt x="3859026" y="2167467"/>
                    <a:pt x="3856927" y="2167467"/>
                  </a:cubicBezTo>
                  <a:lnTo>
                    <a:pt x="7914" y="2167467"/>
                  </a:lnTo>
                  <a:cubicBezTo>
                    <a:pt x="5815" y="2167467"/>
                    <a:pt x="3802" y="2166633"/>
                    <a:pt x="2318" y="2165149"/>
                  </a:cubicBezTo>
                  <a:cubicBezTo>
                    <a:pt x="834" y="2163665"/>
                    <a:pt x="0" y="2161652"/>
                    <a:pt x="0" y="2159553"/>
                  </a:cubicBezTo>
                  <a:lnTo>
                    <a:pt x="0" y="7914"/>
                  </a:lnTo>
                  <a:cubicBezTo>
                    <a:pt x="0" y="5815"/>
                    <a:pt x="834" y="3802"/>
                    <a:pt x="2318" y="2318"/>
                  </a:cubicBezTo>
                  <a:cubicBezTo>
                    <a:pt x="3802" y="834"/>
                    <a:pt x="5815" y="0"/>
                    <a:pt x="7914" y="0"/>
                  </a:cubicBezTo>
                  <a:close/>
                </a:path>
              </a:pathLst>
            </a:custGeom>
            <a:solidFill>
              <a:srgbClr val="FFFFFF"/>
            </a:solidFill>
          </p:spPr>
        </p:sp>
        <p:sp>
          <p:nvSpPr>
            <p:cNvPr name="TextBox 9" id="9"/>
            <p:cNvSpPr txBox="true"/>
            <p:nvPr/>
          </p:nvSpPr>
          <p:spPr>
            <a:xfrm>
              <a:off x="0" y="-38100"/>
              <a:ext cx="3864841"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3111147" y="1109136"/>
            <a:ext cx="11356808" cy="7520818"/>
          </a:xfrm>
          <a:custGeom>
            <a:avLst/>
            <a:gdLst/>
            <a:ahLst/>
            <a:cxnLst/>
            <a:rect r="r" b="b" t="t" l="l"/>
            <a:pathLst>
              <a:path h="7520818" w="11356808">
                <a:moveTo>
                  <a:pt x="0" y="0"/>
                </a:moveTo>
                <a:lnTo>
                  <a:pt x="11356808" y="0"/>
                </a:lnTo>
                <a:lnTo>
                  <a:pt x="11356808" y="7520818"/>
                </a:lnTo>
                <a:lnTo>
                  <a:pt x="0" y="7520818"/>
                </a:lnTo>
                <a:lnTo>
                  <a:pt x="0" y="0"/>
                </a:lnTo>
                <a:close/>
              </a:path>
            </a:pathLst>
          </a:custGeom>
          <a:blipFill>
            <a:blip r:embed="rId9"/>
            <a:stretch>
              <a:fillRect l="0" t="-303" r="0" b="-303"/>
            </a:stretch>
          </a:blipFill>
        </p:spPr>
      </p:sp>
      <p:sp>
        <p:nvSpPr>
          <p:cNvPr name="TextBox 11" id="11"/>
          <p:cNvSpPr txBox="true"/>
          <p:nvPr/>
        </p:nvSpPr>
        <p:spPr>
          <a:xfrm rot="0">
            <a:off x="1974828" y="8790201"/>
            <a:ext cx="13988173" cy="669841"/>
          </a:xfrm>
          <a:prstGeom prst="rect">
            <a:avLst/>
          </a:prstGeom>
        </p:spPr>
        <p:txBody>
          <a:bodyPr anchor="t" rtlCol="false" tIns="0" lIns="0" bIns="0" rIns="0">
            <a:spAutoFit/>
          </a:bodyPr>
          <a:lstStyle/>
          <a:p>
            <a:pPr algn="ctr">
              <a:lnSpc>
                <a:spcPts val="2551"/>
              </a:lnSpc>
            </a:pPr>
            <a:r>
              <a:rPr lang="en-US" sz="2685">
                <a:solidFill>
                  <a:srgbClr val="3B88AF"/>
                </a:solidFill>
                <a:latin typeface="Questrial"/>
                <a:ea typeface="Questrial"/>
                <a:cs typeface="Questrial"/>
                <a:sym typeface="Questrial"/>
              </a:rPr>
              <a:t>SVR </a:t>
            </a:r>
            <a:r>
              <a:rPr lang="en-US" sz="2685">
                <a:solidFill>
                  <a:srgbClr val="3B88AF"/>
                </a:solidFill>
                <a:latin typeface="Questrial"/>
                <a:ea typeface="Questrial"/>
                <a:cs typeface="Questrial"/>
                <a:sym typeface="Questrial"/>
              </a:rPr>
              <a:t>showed stable performance before and after tuning, indicating good generalization.</a:t>
            </a:r>
          </a:p>
          <a:p>
            <a:pPr algn="ctr">
              <a:lnSpc>
                <a:spcPts val="2551"/>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grpSp>
        <p:nvGrpSpPr>
          <p:cNvPr name="Group 6" id="6"/>
          <p:cNvGrpSpPr/>
          <p:nvPr/>
        </p:nvGrpSpPr>
        <p:grpSpPr>
          <a:xfrm rot="0">
            <a:off x="976685" y="1028700"/>
            <a:ext cx="16282615" cy="8309601"/>
            <a:chOff x="0" y="0"/>
            <a:chExt cx="4288425" cy="2188537"/>
          </a:xfrm>
        </p:grpSpPr>
        <p:sp>
          <p:nvSpPr>
            <p:cNvPr name="Freeform 7" id="7"/>
            <p:cNvSpPr/>
            <p:nvPr/>
          </p:nvSpPr>
          <p:spPr>
            <a:xfrm flipH="false" flipV="false" rot="0">
              <a:off x="0" y="0"/>
              <a:ext cx="4288425" cy="2188537"/>
            </a:xfrm>
            <a:custGeom>
              <a:avLst/>
              <a:gdLst/>
              <a:ahLst/>
              <a:cxnLst/>
              <a:rect r="r" b="b" t="t" l="l"/>
              <a:pathLst>
                <a:path h="2188537" w="4288425">
                  <a:moveTo>
                    <a:pt x="7132" y="0"/>
                  </a:moveTo>
                  <a:lnTo>
                    <a:pt x="4281293" y="0"/>
                  </a:lnTo>
                  <a:cubicBezTo>
                    <a:pt x="4283185" y="0"/>
                    <a:pt x="4284999" y="751"/>
                    <a:pt x="4286336" y="2089"/>
                  </a:cubicBezTo>
                  <a:cubicBezTo>
                    <a:pt x="4287674" y="3426"/>
                    <a:pt x="4288425" y="5241"/>
                    <a:pt x="4288425" y="7132"/>
                  </a:cubicBezTo>
                  <a:lnTo>
                    <a:pt x="4288425" y="2181405"/>
                  </a:lnTo>
                  <a:cubicBezTo>
                    <a:pt x="4288425" y="2185344"/>
                    <a:pt x="4285232" y="2188537"/>
                    <a:pt x="4281293" y="2188537"/>
                  </a:cubicBezTo>
                  <a:lnTo>
                    <a:pt x="7132" y="2188537"/>
                  </a:lnTo>
                  <a:cubicBezTo>
                    <a:pt x="3193" y="2188537"/>
                    <a:pt x="0" y="2185344"/>
                    <a:pt x="0" y="218140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26637"/>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123988" y="1313719"/>
            <a:ext cx="14040024" cy="7739563"/>
          </a:xfrm>
          <a:custGeom>
            <a:avLst/>
            <a:gdLst/>
            <a:ahLst/>
            <a:cxnLst/>
            <a:rect r="r" b="b" t="t" l="l"/>
            <a:pathLst>
              <a:path h="7739563" w="14040024">
                <a:moveTo>
                  <a:pt x="0" y="0"/>
                </a:moveTo>
                <a:lnTo>
                  <a:pt x="14040024" y="0"/>
                </a:lnTo>
                <a:lnTo>
                  <a:pt x="14040024" y="7739563"/>
                </a:lnTo>
                <a:lnTo>
                  <a:pt x="0" y="7739563"/>
                </a:lnTo>
                <a:lnTo>
                  <a:pt x="0" y="0"/>
                </a:lnTo>
                <a:close/>
              </a:path>
            </a:pathLst>
          </a:custGeom>
          <a:blipFill>
            <a:blip r:embed="rId7"/>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grpSp>
        <p:nvGrpSpPr>
          <p:cNvPr name="Group 6" id="6"/>
          <p:cNvGrpSpPr/>
          <p:nvPr/>
        </p:nvGrpSpPr>
        <p:grpSpPr>
          <a:xfrm rot="0">
            <a:off x="976685" y="1028700"/>
            <a:ext cx="16282615" cy="8309601"/>
            <a:chOff x="0" y="0"/>
            <a:chExt cx="4288425" cy="2188537"/>
          </a:xfrm>
        </p:grpSpPr>
        <p:sp>
          <p:nvSpPr>
            <p:cNvPr name="Freeform 7" id="7"/>
            <p:cNvSpPr/>
            <p:nvPr/>
          </p:nvSpPr>
          <p:spPr>
            <a:xfrm flipH="false" flipV="false" rot="0">
              <a:off x="0" y="0"/>
              <a:ext cx="4288425" cy="2188537"/>
            </a:xfrm>
            <a:custGeom>
              <a:avLst/>
              <a:gdLst/>
              <a:ahLst/>
              <a:cxnLst/>
              <a:rect r="r" b="b" t="t" l="l"/>
              <a:pathLst>
                <a:path h="2188537" w="4288425">
                  <a:moveTo>
                    <a:pt x="7132" y="0"/>
                  </a:moveTo>
                  <a:lnTo>
                    <a:pt x="4281293" y="0"/>
                  </a:lnTo>
                  <a:cubicBezTo>
                    <a:pt x="4283185" y="0"/>
                    <a:pt x="4284999" y="751"/>
                    <a:pt x="4286336" y="2089"/>
                  </a:cubicBezTo>
                  <a:cubicBezTo>
                    <a:pt x="4287674" y="3426"/>
                    <a:pt x="4288425" y="5241"/>
                    <a:pt x="4288425" y="7132"/>
                  </a:cubicBezTo>
                  <a:lnTo>
                    <a:pt x="4288425" y="2181405"/>
                  </a:lnTo>
                  <a:cubicBezTo>
                    <a:pt x="4288425" y="2185344"/>
                    <a:pt x="4285232" y="2188537"/>
                    <a:pt x="4281293" y="2188537"/>
                  </a:cubicBezTo>
                  <a:lnTo>
                    <a:pt x="7132" y="2188537"/>
                  </a:lnTo>
                  <a:cubicBezTo>
                    <a:pt x="3193" y="2188537"/>
                    <a:pt x="0" y="2185344"/>
                    <a:pt x="0" y="2181405"/>
                  </a:cubicBezTo>
                  <a:lnTo>
                    <a:pt x="0" y="7132"/>
                  </a:lnTo>
                  <a:cubicBezTo>
                    <a:pt x="0" y="3193"/>
                    <a:pt x="3193" y="0"/>
                    <a:pt x="7132" y="0"/>
                  </a:cubicBezTo>
                  <a:close/>
                </a:path>
              </a:pathLst>
            </a:custGeom>
            <a:solidFill>
              <a:srgbClr val="FFFFFF"/>
            </a:solidFill>
          </p:spPr>
        </p:sp>
        <p:sp>
          <p:nvSpPr>
            <p:cNvPr name="TextBox 8" id="8"/>
            <p:cNvSpPr txBox="true"/>
            <p:nvPr/>
          </p:nvSpPr>
          <p:spPr>
            <a:xfrm>
              <a:off x="0" y="-38100"/>
              <a:ext cx="4288425" cy="222663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5641763" y="1233879"/>
            <a:ext cx="6555808" cy="1724483"/>
          </a:xfrm>
          <a:prstGeom prst="rect">
            <a:avLst/>
          </a:prstGeom>
        </p:spPr>
        <p:txBody>
          <a:bodyPr anchor="t" rtlCol="false" tIns="0" lIns="0" bIns="0" rIns="0">
            <a:spAutoFit/>
          </a:bodyPr>
          <a:lstStyle/>
          <a:p>
            <a:pPr algn="r">
              <a:lnSpc>
                <a:spcPts val="12471"/>
              </a:lnSpc>
            </a:pPr>
            <a:r>
              <a:rPr lang="en-US" sz="13128">
                <a:solidFill>
                  <a:srgbClr val="5599C7"/>
                </a:solidFill>
                <a:latin typeface="Sugo Display"/>
                <a:ea typeface="Sugo Display"/>
                <a:cs typeface="Sugo Display"/>
                <a:sym typeface="Sugo Display"/>
              </a:rPr>
              <a:t>CONCLUSION</a:t>
            </a:r>
          </a:p>
        </p:txBody>
      </p:sp>
      <p:sp>
        <p:nvSpPr>
          <p:cNvPr name="TextBox 10" id="10"/>
          <p:cNvSpPr txBox="true"/>
          <p:nvPr/>
        </p:nvSpPr>
        <p:spPr>
          <a:xfrm rot="0">
            <a:off x="1205250" y="3025037"/>
            <a:ext cx="16054050" cy="6482842"/>
          </a:xfrm>
          <a:prstGeom prst="rect">
            <a:avLst/>
          </a:prstGeom>
        </p:spPr>
        <p:txBody>
          <a:bodyPr anchor="t" rtlCol="false" tIns="0" lIns="0" bIns="0" rIns="0">
            <a:spAutoFit/>
          </a:bodyPr>
          <a:lstStyle/>
          <a:p>
            <a:pPr algn="l" marL="729071" indent="-364535" lvl="1">
              <a:lnSpc>
                <a:spcPts val="3208"/>
              </a:lnSpc>
              <a:buFont typeface="Arial"/>
              <a:buChar char="•"/>
            </a:pPr>
            <a:r>
              <a:rPr lang="en-US" sz="3376">
                <a:solidFill>
                  <a:srgbClr val="5599C7"/>
                </a:solidFill>
                <a:latin typeface="Questrial"/>
                <a:ea typeface="Questrial"/>
                <a:cs typeface="Questrial"/>
                <a:sym typeface="Questrial"/>
              </a:rPr>
              <a:t>This proj</a:t>
            </a:r>
            <a:r>
              <a:rPr lang="en-US" sz="3376">
                <a:solidFill>
                  <a:srgbClr val="5599C7"/>
                </a:solidFill>
                <a:latin typeface="Questrial"/>
                <a:ea typeface="Questrial"/>
                <a:cs typeface="Questrial"/>
                <a:sym typeface="Questrial"/>
              </a:rPr>
              <a:t>ect demonstrates the</a:t>
            </a:r>
            <a:r>
              <a:rPr lang="en-US" sz="3376">
                <a:solidFill>
                  <a:srgbClr val="5599C7"/>
                </a:solidFill>
                <a:latin typeface="Questrial"/>
                <a:ea typeface="Questrial"/>
                <a:cs typeface="Questrial"/>
                <a:sym typeface="Questrial"/>
              </a:rPr>
              <a:t> effective use of machine learning techniques to predict urban traffic stress levels.</a:t>
            </a:r>
          </a:p>
          <a:p>
            <a:pPr algn="l">
              <a:lnSpc>
                <a:spcPts val="3208"/>
              </a:lnSpc>
            </a:pPr>
          </a:p>
          <a:p>
            <a:pPr algn="l" marL="729071" indent="-364535" lvl="1">
              <a:lnSpc>
                <a:spcPts val="3208"/>
              </a:lnSpc>
              <a:buFont typeface="Arial"/>
              <a:buChar char="•"/>
            </a:pPr>
            <a:r>
              <a:rPr lang="en-US" sz="3376">
                <a:solidFill>
                  <a:srgbClr val="5599C7"/>
                </a:solidFill>
                <a:latin typeface="Questrial"/>
                <a:ea typeface="Questrial"/>
                <a:cs typeface="Questrial"/>
                <a:sym typeface="Questrial"/>
              </a:rPr>
              <a:t>Exploratory Data Analysis revealed that traffic density, signal wait time, and average speed are the most influential factors affecting traffic stress. Additionally, driver experience and road quality also contribute to variations in stress levels.</a:t>
            </a:r>
          </a:p>
          <a:p>
            <a:pPr algn="l">
              <a:lnSpc>
                <a:spcPts val="3208"/>
              </a:lnSpc>
            </a:pPr>
          </a:p>
          <a:p>
            <a:pPr algn="l" marL="729071" indent="-364535" lvl="1">
              <a:lnSpc>
                <a:spcPts val="3208"/>
              </a:lnSpc>
              <a:buFont typeface="Arial"/>
              <a:buChar char="•"/>
            </a:pPr>
            <a:r>
              <a:rPr lang="en-US" sz="3376">
                <a:solidFill>
                  <a:srgbClr val="5599C7"/>
                </a:solidFill>
                <a:latin typeface="Questrial"/>
                <a:ea typeface="Questrial"/>
                <a:cs typeface="Questrial"/>
                <a:sym typeface="Questrial"/>
              </a:rPr>
              <a:t>Multi</a:t>
            </a:r>
            <a:r>
              <a:rPr lang="en-US" sz="3376">
                <a:solidFill>
                  <a:srgbClr val="5599C7"/>
                </a:solidFill>
                <a:latin typeface="Questrial"/>
                <a:ea typeface="Questrial"/>
                <a:cs typeface="Questrial"/>
                <a:sym typeface="Questrial"/>
              </a:rPr>
              <a:t>ple machine learning models were developed and evaluated. Among them, Support Vector Regression (SVR) achieved the best performance with the highest test accuracy and stable results before and after hyperparameter tuning.</a:t>
            </a:r>
          </a:p>
          <a:p>
            <a:pPr algn="l">
              <a:lnSpc>
                <a:spcPts val="3208"/>
              </a:lnSpc>
            </a:pPr>
          </a:p>
          <a:p>
            <a:pPr algn="l" marL="729071" indent="-364535" lvl="1">
              <a:lnSpc>
                <a:spcPts val="3208"/>
              </a:lnSpc>
              <a:buFont typeface="Arial"/>
              <a:buChar char="•"/>
            </a:pPr>
            <a:r>
              <a:rPr lang="en-US" sz="3376">
                <a:solidFill>
                  <a:srgbClr val="5599C7"/>
                </a:solidFill>
                <a:latin typeface="Questrial"/>
                <a:ea typeface="Questrial"/>
                <a:cs typeface="Questrial"/>
                <a:sym typeface="Questrial"/>
              </a:rPr>
              <a:t>Machine learning models can accurately predict traffic stress levels and can be used to support efficient traffic management and smart city planning</a:t>
            </a:r>
          </a:p>
          <a:p>
            <a:pPr algn="l">
              <a:lnSpc>
                <a:spcPts val="3208"/>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22" r="0" b="-222"/>
            </a:stretch>
          </a:blipFill>
        </p:spPr>
      </p:sp>
      <p:sp>
        <p:nvSpPr>
          <p:cNvPr name="Freeform 3" id="3"/>
          <p:cNvSpPr/>
          <p:nvPr/>
        </p:nvSpPr>
        <p:spPr>
          <a:xfrm flipH="false" flipV="false" rot="0">
            <a:off x="0" y="7426904"/>
            <a:ext cx="5641763" cy="4520463"/>
          </a:xfrm>
          <a:custGeom>
            <a:avLst/>
            <a:gdLst/>
            <a:ahLst/>
            <a:cxnLst/>
            <a:rect r="r" b="b" t="t" l="l"/>
            <a:pathLst>
              <a:path h="4520463" w="5641763">
                <a:moveTo>
                  <a:pt x="0" y="0"/>
                </a:moveTo>
                <a:lnTo>
                  <a:pt x="5641763" y="0"/>
                </a:lnTo>
                <a:lnTo>
                  <a:pt x="5641763" y="4520462"/>
                </a:lnTo>
                <a:lnTo>
                  <a:pt x="0" y="4520462"/>
                </a:lnTo>
                <a:lnTo>
                  <a:pt x="0" y="0"/>
                </a:lnTo>
                <a:close/>
              </a:path>
            </a:pathLst>
          </a:custGeom>
          <a:blipFill>
            <a:blip r:embed="rId3"/>
            <a:stretch>
              <a:fillRect l="0" t="0" r="0" b="0"/>
            </a:stretch>
          </a:blipFill>
        </p:spPr>
      </p:sp>
      <p:sp>
        <p:nvSpPr>
          <p:cNvPr name="Freeform 4" id="4"/>
          <p:cNvSpPr/>
          <p:nvPr/>
        </p:nvSpPr>
        <p:spPr>
          <a:xfrm flipH="false" flipV="false" rot="-1294542">
            <a:off x="13102832" y="7848549"/>
            <a:ext cx="5415008" cy="4804589"/>
          </a:xfrm>
          <a:custGeom>
            <a:avLst/>
            <a:gdLst/>
            <a:ahLst/>
            <a:cxnLst/>
            <a:rect r="r" b="b" t="t" l="l"/>
            <a:pathLst>
              <a:path h="4804589" w="5415008">
                <a:moveTo>
                  <a:pt x="0" y="0"/>
                </a:moveTo>
                <a:lnTo>
                  <a:pt x="5415008" y="0"/>
                </a:lnTo>
                <a:lnTo>
                  <a:pt x="5415008" y="4804589"/>
                </a:lnTo>
                <a:lnTo>
                  <a:pt x="0" y="4804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8600547"/>
            <a:ext cx="16230600" cy="1475509"/>
          </a:xfrm>
          <a:custGeom>
            <a:avLst/>
            <a:gdLst/>
            <a:ahLst/>
            <a:cxnLst/>
            <a:rect r="r" b="b" t="t" l="l"/>
            <a:pathLst>
              <a:path h="1475509" w="16230600">
                <a:moveTo>
                  <a:pt x="0" y="0"/>
                </a:moveTo>
                <a:lnTo>
                  <a:pt x="16230600" y="0"/>
                </a:lnTo>
                <a:lnTo>
                  <a:pt x="16230600" y="1475509"/>
                </a:lnTo>
                <a:lnTo>
                  <a:pt x="0" y="1475509"/>
                </a:lnTo>
                <a:lnTo>
                  <a:pt x="0" y="0"/>
                </a:lnTo>
                <a:close/>
              </a:path>
            </a:pathLst>
          </a:custGeom>
          <a:blipFill>
            <a:blip r:embed="rId6"/>
            <a:stretch>
              <a:fillRect l="0" t="0" r="0" b="0"/>
            </a:stretch>
          </a:blipFill>
        </p:spPr>
      </p:sp>
      <p:grpSp>
        <p:nvGrpSpPr>
          <p:cNvPr name="Group 6" id="6"/>
          <p:cNvGrpSpPr/>
          <p:nvPr/>
        </p:nvGrpSpPr>
        <p:grpSpPr>
          <a:xfrm rot="0">
            <a:off x="4043820" y="2329399"/>
            <a:ext cx="10200360" cy="4691842"/>
            <a:chOff x="0" y="0"/>
            <a:chExt cx="2686515" cy="1235711"/>
          </a:xfrm>
        </p:grpSpPr>
        <p:sp>
          <p:nvSpPr>
            <p:cNvPr name="Freeform 7" id="7"/>
            <p:cNvSpPr/>
            <p:nvPr/>
          </p:nvSpPr>
          <p:spPr>
            <a:xfrm flipH="false" flipV="false" rot="0">
              <a:off x="0" y="0"/>
              <a:ext cx="2686515" cy="1235711"/>
            </a:xfrm>
            <a:custGeom>
              <a:avLst/>
              <a:gdLst/>
              <a:ahLst/>
              <a:cxnLst/>
              <a:rect r="r" b="b" t="t" l="l"/>
              <a:pathLst>
                <a:path h="1235711" w="2686515">
                  <a:moveTo>
                    <a:pt x="11385" y="0"/>
                  </a:moveTo>
                  <a:lnTo>
                    <a:pt x="2675130" y="0"/>
                  </a:lnTo>
                  <a:cubicBezTo>
                    <a:pt x="2678149" y="0"/>
                    <a:pt x="2681045" y="1199"/>
                    <a:pt x="2683180" y="3335"/>
                  </a:cubicBezTo>
                  <a:cubicBezTo>
                    <a:pt x="2685315" y="5470"/>
                    <a:pt x="2686515" y="8365"/>
                    <a:pt x="2686515" y="11385"/>
                  </a:cubicBezTo>
                  <a:lnTo>
                    <a:pt x="2686515" y="1224327"/>
                  </a:lnTo>
                  <a:cubicBezTo>
                    <a:pt x="2686515" y="1227346"/>
                    <a:pt x="2685315" y="1230242"/>
                    <a:pt x="2683180" y="1232377"/>
                  </a:cubicBezTo>
                  <a:cubicBezTo>
                    <a:pt x="2681045" y="1234512"/>
                    <a:pt x="2678149" y="1235711"/>
                    <a:pt x="2675130" y="1235711"/>
                  </a:cubicBezTo>
                  <a:lnTo>
                    <a:pt x="11385" y="1235711"/>
                  </a:lnTo>
                  <a:cubicBezTo>
                    <a:pt x="8365" y="1235711"/>
                    <a:pt x="5470" y="1234512"/>
                    <a:pt x="3335" y="1232377"/>
                  </a:cubicBezTo>
                  <a:cubicBezTo>
                    <a:pt x="1199" y="1230242"/>
                    <a:pt x="0" y="1227346"/>
                    <a:pt x="0" y="1224327"/>
                  </a:cubicBezTo>
                  <a:lnTo>
                    <a:pt x="0" y="11385"/>
                  </a:lnTo>
                  <a:cubicBezTo>
                    <a:pt x="0" y="8365"/>
                    <a:pt x="1199" y="5470"/>
                    <a:pt x="3335" y="3335"/>
                  </a:cubicBezTo>
                  <a:cubicBezTo>
                    <a:pt x="5470" y="1199"/>
                    <a:pt x="8365" y="0"/>
                    <a:pt x="11385" y="0"/>
                  </a:cubicBezTo>
                  <a:close/>
                </a:path>
              </a:pathLst>
            </a:custGeom>
            <a:solidFill>
              <a:srgbClr val="FFFFFF"/>
            </a:solidFill>
          </p:spPr>
        </p:sp>
        <p:sp>
          <p:nvSpPr>
            <p:cNvPr name="TextBox 8" id="8"/>
            <p:cNvSpPr txBox="true"/>
            <p:nvPr/>
          </p:nvSpPr>
          <p:spPr>
            <a:xfrm>
              <a:off x="0" y="-38100"/>
              <a:ext cx="2686515" cy="1273811"/>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873031" y="3704731"/>
            <a:ext cx="9809537" cy="1921057"/>
          </a:xfrm>
          <a:prstGeom prst="rect">
            <a:avLst/>
          </a:prstGeom>
        </p:spPr>
        <p:txBody>
          <a:bodyPr anchor="t" rtlCol="false" tIns="0" lIns="0" bIns="0" rIns="0">
            <a:spAutoFit/>
          </a:bodyPr>
          <a:lstStyle/>
          <a:p>
            <a:pPr algn="r">
              <a:lnSpc>
                <a:spcPts val="13875"/>
              </a:lnSpc>
            </a:pPr>
            <a:r>
              <a:rPr lang="en-US" sz="14605">
                <a:solidFill>
                  <a:srgbClr val="5599C7"/>
                </a:solidFill>
                <a:latin typeface="Sugo Display"/>
                <a:ea typeface="Sugo Display"/>
                <a:cs typeface="Sugo Display"/>
                <a:sym typeface="Sugo Display"/>
              </a:rPr>
              <a:t>THANK YOU</a:t>
            </a:r>
          </a:p>
        </p:txBody>
      </p:sp>
      <p:sp>
        <p:nvSpPr>
          <p:cNvPr name="TextBox 10" id="10"/>
          <p:cNvSpPr txBox="true"/>
          <p:nvPr/>
        </p:nvSpPr>
        <p:spPr>
          <a:xfrm rot="0">
            <a:off x="11440449" y="3171331"/>
            <a:ext cx="2369529" cy="2105351"/>
          </a:xfrm>
          <a:prstGeom prst="rect">
            <a:avLst/>
          </a:prstGeom>
        </p:spPr>
        <p:txBody>
          <a:bodyPr anchor="t" rtlCol="false" tIns="0" lIns="0" bIns="0" rIns="0">
            <a:spAutoFit/>
          </a:bodyPr>
          <a:lstStyle/>
          <a:p>
            <a:pPr algn="ctr">
              <a:lnSpc>
                <a:spcPts val="17307"/>
              </a:lnSpc>
              <a:spcBef>
                <a:spcPct val="0"/>
              </a:spcBef>
            </a:pPr>
            <a:r>
              <a:rPr lang="en-US" b="true" sz="12362">
                <a:solidFill>
                  <a:srgbClr val="3B88AF"/>
                </a:solidFill>
                <a:latin typeface="Open Sans Bold"/>
                <a:ea typeface="Open Sans Bold"/>
                <a:cs typeface="Open Sans Bold"/>
                <a:sym typeface="Open Sans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DAHDpWYAlMc</dc:identifier>
  <dcterms:modified xsi:type="dcterms:W3CDTF">2011-08-01T06:04:30Z</dcterms:modified>
  <cp:revision>1</cp:revision>
  <dc:title>Predicting Urban Traffic Stress Using Machine Learning</dc:title>
</cp:coreProperties>
</file>